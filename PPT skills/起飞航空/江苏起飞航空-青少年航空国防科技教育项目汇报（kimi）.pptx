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235302" y="2285989"/>
            <a:ext cx="281" cy="22"/>
          </a:xfrm>
          <a:custGeom>
            <a:avLst/>
            <a:gdLst/>
            <a:ahLst/>
            <a:cxnLst/>
            <a:rect l="l" t="t" r="r" b="b"/>
            <a:pathLst>
              <a:path w="281" h="22">
                <a:moveTo>
                  <a:pt x="0" y="0"/>
                </a:moveTo>
                <a:lnTo>
                  <a:pt x="224" y="0"/>
                </a:lnTo>
                <a:lnTo>
                  <a:pt x="281" y="11"/>
                </a:lnTo>
                <a:lnTo>
                  <a:pt x="224" y="22"/>
                </a:lnTo>
                <a:lnTo>
                  <a:pt x="0" y="22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235354" y="2285891"/>
            <a:ext cx="99" cy="104"/>
          </a:xfrm>
          <a:custGeom>
            <a:avLst/>
            <a:gdLst/>
            <a:ahLst/>
            <a:cxnLst/>
            <a:rect l="l" t="t" r="r" b="b"/>
            <a:pathLst>
              <a:path w="99" h="104">
                <a:moveTo>
                  <a:pt x="69" y="104"/>
                </a:moveTo>
                <a:lnTo>
                  <a:pt x="0" y="0"/>
                </a:lnTo>
                <a:lnTo>
                  <a:pt x="43" y="0"/>
                </a:lnTo>
                <a:lnTo>
                  <a:pt x="99" y="104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235354" y="2286005"/>
            <a:ext cx="99" cy="104"/>
          </a:xfrm>
          <a:custGeom>
            <a:avLst/>
            <a:gdLst/>
            <a:ahLst/>
            <a:cxnLst/>
            <a:rect l="l" t="t" r="r" b="b"/>
            <a:pathLst>
              <a:path w="99" h="104">
                <a:moveTo>
                  <a:pt x="69" y="0"/>
                </a:moveTo>
                <a:lnTo>
                  <a:pt x="0" y="104"/>
                </a:lnTo>
                <a:lnTo>
                  <a:pt x="43" y="104"/>
                </a:lnTo>
                <a:lnTo>
                  <a:pt x="99" y="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235285" y="2285949"/>
            <a:ext cx="50" cy="45"/>
          </a:xfrm>
          <a:custGeom>
            <a:avLst/>
            <a:gdLst/>
            <a:ahLst/>
            <a:cxnLst/>
            <a:rect l="l" t="t" r="r" b="b"/>
            <a:pathLst>
              <a:path w="50" h="45">
                <a:moveTo>
                  <a:pt x="35" y="45"/>
                </a:moveTo>
                <a:lnTo>
                  <a:pt x="0" y="0"/>
                </a:lnTo>
                <a:lnTo>
                  <a:pt x="23" y="0"/>
                </a:lnTo>
                <a:lnTo>
                  <a:pt x="50" y="45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235285" y="2286006"/>
            <a:ext cx="50" cy="45"/>
          </a:xfrm>
          <a:custGeom>
            <a:avLst/>
            <a:gdLst/>
            <a:ahLst/>
            <a:cxnLst/>
            <a:rect l="l" t="t" r="r" b="b"/>
            <a:pathLst>
              <a:path w="50" h="45">
                <a:moveTo>
                  <a:pt x="35" y="0"/>
                </a:moveTo>
                <a:lnTo>
                  <a:pt x="0" y="45"/>
                </a:lnTo>
                <a:lnTo>
                  <a:pt x="23" y="45"/>
                </a:lnTo>
                <a:lnTo>
                  <a:pt x="50" y="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235274" y="2285929"/>
            <a:ext cx="74" cy="60"/>
          </a:xfrm>
          <a:custGeom>
            <a:avLst/>
            <a:gdLst/>
            <a:ahLst/>
            <a:cxnLst/>
            <a:rect l="l" t="t" r="r" b="b"/>
            <a:pathLst>
              <a:path w="74" h="60">
                <a:moveTo>
                  <a:pt x="52" y="60"/>
                </a:moveTo>
                <a:lnTo>
                  <a:pt x="0" y="0"/>
                </a:lnTo>
                <a:lnTo>
                  <a:pt x="31" y="0"/>
                </a:lnTo>
                <a:lnTo>
                  <a:pt x="74" y="6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235332" y="2285991"/>
            <a:ext cx="220" cy="18"/>
          </a:xfrm>
          <a:custGeom>
            <a:avLst/>
            <a:gdLst/>
            <a:ahLst/>
            <a:cxnLst/>
            <a:rect l="l" t="t" r="r" b="b"/>
            <a:pathLst>
              <a:path w="220" h="18">
                <a:moveTo>
                  <a:pt x="0" y="0"/>
                </a:moveTo>
                <a:lnTo>
                  <a:pt x="175" y="0"/>
                </a:lnTo>
                <a:lnTo>
                  <a:pt x="220" y="9"/>
                </a:lnTo>
                <a:lnTo>
                  <a:pt x="175" y="18"/>
                </a:lnTo>
                <a:lnTo>
                  <a:pt x="0" y="18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235373" y="2285915"/>
            <a:ext cx="77" cy="81"/>
          </a:xfrm>
          <a:custGeom>
            <a:avLst/>
            <a:gdLst/>
            <a:ahLst/>
            <a:cxnLst/>
            <a:rect l="l" t="t" r="r" b="b"/>
            <a:pathLst>
              <a:path w="77" h="81">
                <a:moveTo>
                  <a:pt x="54" y="81"/>
                </a:moveTo>
                <a:lnTo>
                  <a:pt x="0" y="0"/>
                </a:lnTo>
                <a:lnTo>
                  <a:pt x="33" y="0"/>
                </a:lnTo>
                <a:lnTo>
                  <a:pt x="77" y="81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235373" y="2286004"/>
            <a:ext cx="77" cy="81"/>
          </a:xfrm>
          <a:custGeom>
            <a:avLst/>
            <a:gdLst/>
            <a:ahLst/>
            <a:cxnLst/>
            <a:rect l="l" t="t" r="r" b="b"/>
            <a:pathLst>
              <a:path w="77" h="81">
                <a:moveTo>
                  <a:pt x="54" y="0"/>
                </a:moveTo>
                <a:lnTo>
                  <a:pt x="0" y="81"/>
                </a:lnTo>
                <a:lnTo>
                  <a:pt x="33" y="81"/>
                </a:lnTo>
                <a:lnTo>
                  <a:pt x="77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235319" y="2285960"/>
            <a:ext cx="39" cy="35"/>
          </a:xfrm>
          <a:custGeom>
            <a:avLst/>
            <a:gdLst/>
            <a:ahLst/>
            <a:cxnLst/>
            <a:rect l="l" t="t" r="r" b="b"/>
            <a:pathLst>
              <a:path w="39" h="35">
                <a:moveTo>
                  <a:pt x="27" y="35"/>
                </a:moveTo>
                <a:lnTo>
                  <a:pt x="0" y="0"/>
                </a:lnTo>
                <a:lnTo>
                  <a:pt x="18" y="0"/>
                </a:lnTo>
                <a:lnTo>
                  <a:pt x="39" y="3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235319" y="2286005"/>
            <a:ext cx="39" cy="35"/>
          </a:xfrm>
          <a:custGeom>
            <a:avLst/>
            <a:gdLst/>
            <a:ahLst/>
            <a:cxnLst/>
            <a:rect l="l" t="t" r="r" b="b"/>
            <a:pathLst>
              <a:path w="39" h="35">
                <a:moveTo>
                  <a:pt x="27" y="0"/>
                </a:moveTo>
                <a:lnTo>
                  <a:pt x="0" y="35"/>
                </a:lnTo>
                <a:lnTo>
                  <a:pt x="18" y="35"/>
                </a:lnTo>
                <a:lnTo>
                  <a:pt x="39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235310" y="2285945"/>
            <a:ext cx="58" cy="46"/>
          </a:xfrm>
          <a:custGeom>
            <a:avLst/>
            <a:gdLst/>
            <a:ahLst/>
            <a:cxnLst/>
            <a:rect l="l" t="t" r="r" b="b"/>
            <a:pathLst>
              <a:path w="58" h="46">
                <a:moveTo>
                  <a:pt x="40" y="46"/>
                </a:moveTo>
                <a:lnTo>
                  <a:pt x="0" y="0"/>
                </a:lnTo>
                <a:lnTo>
                  <a:pt x="24" y="0"/>
                </a:lnTo>
                <a:lnTo>
                  <a:pt x="58" y="4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487168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3328" y="2505456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45936" y="2523744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38544" y="2542032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31152" y="2560320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0" y="2578608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16367" y="2596896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08975" y="2615184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2633472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6928"/>
            <a:ext cx="29260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7132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3FC6F0"/>
                </a:solidFill>
                <a:latin typeface="微软雅黑"/>
                <a:ea typeface="微软雅黑"/>
              </a:rPr>
              <a:t>JIANGSU TAKEOFF AVIATION  ·  航空国防科技教育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江苏起飞航空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3400" b="1">
                <a:solidFill>
                  <a:srgbClr val="F2B13C"/>
                </a:solidFill>
                <a:latin typeface="微软雅黑"/>
                <a:ea typeface="微软雅黑"/>
              </a:rPr>
              <a:t>青少年航空国防科技教育项目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77639"/>
            <a:ext cx="2377440" cy="3810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C9D6E8"/>
                </a:solidFill>
                <a:latin typeface="微软雅黑"/>
                <a:ea typeface="微软雅黑"/>
              </a:rPr>
              <a:t>老兵当教官 · 蓝天为课堂 · 航空为载体 · 国防育少年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项目汇报  ·  汇报人：江苏起飞航空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OPENING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开场白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91640"/>
            <a:ext cx="64008" cy="420624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2011680"/>
            <a:ext cx="9966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2000" b="1">
                <a:solidFill>
                  <a:srgbClr val="F2B13C"/>
                </a:solidFill>
                <a:latin typeface="微软雅黑"/>
                <a:ea typeface="微软雅黑"/>
              </a:rPr>
              <a:t>各位领导，大家好！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600" b="0">
                <a:solidFill>
                  <a:srgbClr val="C9D6E8"/>
                </a:solidFill>
                <a:latin typeface="微软雅黑"/>
                <a:ea typeface="微软雅黑"/>
              </a:rPr>
              <a:t>我是江苏起飞航空的汇报人。今天向各位汇报我们青少年航空国防科技教育项目。项目依托模拟飞行教学、航空科普进校园，同步开展中国航协模拟飞行教练员师资培训，培育退役军人持证上岗就业，吸纳优秀退役军人投身青少年航空国防教育事业，既打通退役军人就业创业新路径，又面向中小学生落地航空国防科技教育，探索军地协同育人的创新模式。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600" b="0">
                <a:solidFill>
                  <a:srgbClr val="C9D6E8"/>
                </a:solidFill>
                <a:latin typeface="微软雅黑"/>
                <a:ea typeface="微软雅黑"/>
              </a:rPr>
              <a:t>接下来我将从项目背景、项目理念、实施举措、实践成果、社会效益、未来规划六个方面展开汇报。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78308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78308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203911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79" y="178308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26279" y="178308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599" y="203911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599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项目核心理念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178308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178308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9" y="203911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39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项目主要实施举措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02336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02336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27939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0749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项目实践成果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79" y="402336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26279" y="402336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599" y="427939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599" y="50749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项目社会效益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4023360"/>
            <a:ext cx="3383280" cy="17830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19" y="4023360"/>
            <a:ext cx="33832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39" y="427939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3FC6F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39" y="50749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未来规划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01  · 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一、项目背景（上）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91640"/>
            <a:ext cx="10607040" cy="43434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91640"/>
            <a:ext cx="64008" cy="43434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65960"/>
            <a:ext cx="9966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国防教育是国民教育体系的重要组成部分。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党和国家高度重视全民国防教育、中小学科技教育，同时大力推进退役军人就业创业工作，出台多项政策，鼓励社会力量参与国防教育进校园，支持退役军人投身社会化服务岗位。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退役军人是党和军队精心培养的忠诚卫士，经过军营长期淬炼，政治立场坚定、纪律作风顽强、执行力突出，自带家国情怀与责任担当。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这些宝贵特质，正是青少年国防教育、品格养成教育所急需的优质师资素养。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01  · 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一、项目背景（下）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91640"/>
            <a:ext cx="10607040" cy="43434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91640"/>
            <a:ext cx="64008" cy="434340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65960"/>
            <a:ext cx="9966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当前，不少中小学生怀揣航空梦想，对蓝天、飞行器充满好奇，但校园航空国防教育形式往往比较单一。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传统科普多以理论宣讲为主，缺少沉浸式、可动手的实操体验。而模拟飞行项目，能够将航空知识、国防理念、实操训练融为一体，趣味性与教育性兼备。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立足政策导向与现实需求，江苏起飞航空确立发展方向：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将军旅文化和飞行文化深度融合，深耕青少年航空教育与模拟飞行项目；面向退役军人开设中国航协模拟飞行教练员专项师资培训，考核通过持证上岗，为优秀退役军人开辟就业创业全新赛道，让老兵脱下军装后，在校园国防教育新岗位上继续发光发热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606998" y="5943597"/>
            <a:ext cx="85" cy="6"/>
          </a:xfrm>
          <a:custGeom>
            <a:avLst/>
            <a:gdLst/>
            <a:ahLst/>
            <a:cxnLst/>
            <a:rect l="l" t="t" r="r" b="b"/>
            <a:pathLst>
              <a:path w="85" h="6">
                <a:moveTo>
                  <a:pt x="0" y="0"/>
                </a:moveTo>
                <a:lnTo>
                  <a:pt x="68" y="0"/>
                </a:lnTo>
                <a:lnTo>
                  <a:pt x="85" y="3"/>
                </a:lnTo>
                <a:lnTo>
                  <a:pt x="6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607014" y="5943567"/>
            <a:ext cx="30" cy="32"/>
          </a:xfrm>
          <a:custGeom>
            <a:avLst/>
            <a:gdLst/>
            <a:ahLst/>
            <a:cxnLst/>
            <a:rect l="l" t="t" r="r" b="b"/>
            <a:pathLst>
              <a:path w="30" h="32">
                <a:moveTo>
                  <a:pt x="21" y="32"/>
                </a:moveTo>
                <a:lnTo>
                  <a:pt x="0" y="0"/>
                </a:lnTo>
                <a:lnTo>
                  <a:pt x="13" y="0"/>
                </a:lnTo>
                <a:lnTo>
                  <a:pt x="30" y="3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607014" y="5943601"/>
            <a:ext cx="30" cy="32"/>
          </a:xfrm>
          <a:custGeom>
            <a:avLst/>
            <a:gdLst/>
            <a:ahLst/>
            <a:cxnLst/>
            <a:rect l="l" t="t" r="r" b="b"/>
            <a:pathLst>
              <a:path w="30" h="32">
                <a:moveTo>
                  <a:pt x="21" y="0"/>
                </a:moveTo>
                <a:lnTo>
                  <a:pt x="0" y="32"/>
                </a:lnTo>
                <a:lnTo>
                  <a:pt x="13" y="32"/>
                </a:lnTo>
                <a:lnTo>
                  <a:pt x="30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606993" y="5943585"/>
            <a:ext cx="15" cy="13"/>
          </a:xfrm>
          <a:custGeom>
            <a:avLst/>
            <a:gdLst/>
            <a:ahLst/>
            <a:cxnLst/>
            <a:rect l="l" t="t" r="r" b="b"/>
            <a:pathLst>
              <a:path w="15" h="13">
                <a:moveTo>
                  <a:pt x="11" y="13"/>
                </a:moveTo>
                <a:lnTo>
                  <a:pt x="0" y="0"/>
                </a:lnTo>
                <a:lnTo>
                  <a:pt x="7" y="0"/>
                </a:lnTo>
                <a:lnTo>
                  <a:pt x="15" y="13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606993" y="5943602"/>
            <a:ext cx="15" cy="13"/>
          </a:xfrm>
          <a:custGeom>
            <a:avLst/>
            <a:gdLst/>
            <a:ahLst/>
            <a:cxnLst/>
            <a:rect l="l" t="t" r="r" b="b"/>
            <a:pathLst>
              <a:path w="15" h="13">
                <a:moveTo>
                  <a:pt x="11" y="0"/>
                </a:moveTo>
                <a:lnTo>
                  <a:pt x="0" y="13"/>
                </a:lnTo>
                <a:lnTo>
                  <a:pt x="7" y="13"/>
                </a:lnTo>
                <a:lnTo>
                  <a:pt x="1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606990" y="5943579"/>
            <a:ext cx="22" cy="18"/>
          </a:xfrm>
          <a:custGeom>
            <a:avLst/>
            <a:gdLst/>
            <a:ahLst/>
            <a:cxnLst/>
            <a:rect l="l" t="t" r="r" b="b"/>
            <a:pathLst>
              <a:path w="22" h="18">
                <a:moveTo>
                  <a:pt x="15" y="18"/>
                </a:moveTo>
                <a:lnTo>
                  <a:pt x="0" y="0"/>
                </a:lnTo>
                <a:lnTo>
                  <a:pt x="9" y="0"/>
                </a:lnTo>
                <a:lnTo>
                  <a:pt x="22" y="18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02  ·  PHILOSOPHY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二、项目核心理念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184708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老兵当教官，蓝天为课堂，航空为载体，国防育少年。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88920"/>
            <a:ext cx="3337560" cy="333756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788920"/>
            <a:ext cx="3337560" cy="3048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99008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3FC6F0"/>
                </a:solidFill>
                <a:latin typeface="微软雅黑"/>
                <a:ea typeface="微软雅黑"/>
              </a:rPr>
              <a:t>01  双文化融合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355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B13C"/>
                </a:solidFill>
                <a:latin typeface="微软雅黑"/>
                <a:ea typeface="微软雅黑"/>
              </a:rPr>
              <a:t>军旅文化 + 飞行文化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794760"/>
            <a:ext cx="2880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飞行职业本身强调严谨规范、生命至上、责任为先，这与军旅文化令行禁止、吃苦耐劳、担当奉献的内核高度契合。我们将军人作风、军营礼仪、航空职业素养融入课程，不只是教孩子操控摇杆、学习航空理论，更重在锤炼意志品质，厚植责任意识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6552" y="2788920"/>
            <a:ext cx="3337560" cy="333756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6552" y="2788920"/>
            <a:ext cx="3337560" cy="3048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299008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3FC6F0"/>
                </a:solidFill>
                <a:latin typeface="微软雅黑"/>
                <a:ea typeface="微软雅黑"/>
              </a:rPr>
              <a:t>02  双向赋能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355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B13C"/>
                </a:solidFill>
                <a:latin typeface="微软雅黑"/>
                <a:ea typeface="微软雅黑"/>
              </a:rPr>
              <a:t>退役军人 × 青少年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794760"/>
            <a:ext cx="2880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一方面，面向退役军人开展标准化师资培训，考取中国航协教练员证书，持证上岗，完成角色转型，实现稳定就业创业；另一方面，以退役军人作为核心师资队伍，面向青少年开展沉浸式航空国防教育，把航空报国、强军强国的种子植入少年心中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5864" y="2788920"/>
            <a:ext cx="3337560" cy="333756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5864" y="2788920"/>
            <a:ext cx="3337560" cy="3048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4" y="299008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3FC6F0"/>
                </a:solidFill>
                <a:latin typeface="微软雅黑"/>
                <a:ea typeface="微软雅黑"/>
              </a:rPr>
              <a:t>03  政策领航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3355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B13C"/>
                </a:solidFill>
                <a:latin typeface="微软雅黑"/>
                <a:ea typeface="微软雅黑"/>
              </a:rPr>
              <a:t>航空国防科技教育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3794760"/>
            <a:ext cx="2880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将航空国防科技教育完整纳入项目体系。我们不只是简单开展兴趣培训，而是深度配合学校落实“双减”、体教融合、中小学国防教育相关要求，以校内社团、科普讲座、开班仪式、赛事集训等多种形式落地校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03  · 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三、项目主要实施举措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在落地实施层面，我们主要落实四大举措。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240280"/>
            <a:ext cx="246888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2240280"/>
            <a:ext cx="24688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011647" y="3154678"/>
            <a:ext cx="68" cy="4"/>
          </a:xfrm>
          <a:custGeom>
            <a:avLst/>
            <a:gdLst/>
            <a:ahLst/>
            <a:cxnLst/>
            <a:rect l="l" t="t" r="r" b="b"/>
            <a:pathLst>
              <a:path w="68" h="4">
                <a:moveTo>
                  <a:pt x="0" y="0"/>
                </a:moveTo>
                <a:lnTo>
                  <a:pt x="54" y="0"/>
                </a:lnTo>
                <a:lnTo>
                  <a:pt x="68" y="2"/>
                </a:lnTo>
                <a:lnTo>
                  <a:pt x="54" y="4"/>
                </a:lnTo>
                <a:lnTo>
                  <a:pt x="0" y="4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011659" y="3154654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25"/>
                </a:moveTo>
                <a:lnTo>
                  <a:pt x="0" y="0"/>
                </a:lnTo>
                <a:lnTo>
                  <a:pt x="11" y="0"/>
                </a:lnTo>
                <a:lnTo>
                  <a:pt x="24" y="2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011659" y="3154681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0"/>
                </a:moveTo>
                <a:lnTo>
                  <a:pt x="0" y="25"/>
                </a:lnTo>
                <a:lnTo>
                  <a:pt x="11" y="25"/>
                </a:lnTo>
                <a:lnTo>
                  <a:pt x="24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011643" y="3154668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11"/>
                </a:moveTo>
                <a:lnTo>
                  <a:pt x="0" y="0"/>
                </a:lnTo>
                <a:lnTo>
                  <a:pt x="5" y="0"/>
                </a:lnTo>
                <a:lnTo>
                  <a:pt x="12" y="11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011643" y="3154681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0"/>
                </a:moveTo>
                <a:lnTo>
                  <a:pt x="0" y="11"/>
                </a:lnTo>
                <a:lnTo>
                  <a:pt x="5" y="11"/>
                </a:lnTo>
                <a:lnTo>
                  <a:pt x="12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011640" y="3154663"/>
            <a:ext cx="18" cy="15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12" y="15"/>
                </a:moveTo>
                <a:lnTo>
                  <a:pt x="0" y="0"/>
                </a:lnTo>
                <a:lnTo>
                  <a:pt x="7" y="0"/>
                </a:lnTo>
                <a:lnTo>
                  <a:pt x="18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84048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B13C"/>
                </a:solidFill>
                <a:latin typeface="微软雅黑"/>
                <a:ea typeface="微软雅黑"/>
              </a:rPr>
              <a:t>举措一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4160520"/>
            <a:ext cx="2066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师资培训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4663440"/>
            <a:ext cx="2066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面向退役军人开展中国航协模拟飞行教练员师资培训，搭建退役军人就业创业平台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240280"/>
            <a:ext cx="246888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2240280"/>
            <a:ext cx="24688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754847" y="3154678"/>
            <a:ext cx="68" cy="4"/>
          </a:xfrm>
          <a:custGeom>
            <a:avLst/>
            <a:gdLst/>
            <a:ahLst/>
            <a:cxnLst/>
            <a:rect l="l" t="t" r="r" b="b"/>
            <a:pathLst>
              <a:path w="68" h="4">
                <a:moveTo>
                  <a:pt x="0" y="0"/>
                </a:moveTo>
                <a:lnTo>
                  <a:pt x="54" y="0"/>
                </a:lnTo>
                <a:lnTo>
                  <a:pt x="68" y="2"/>
                </a:lnTo>
                <a:lnTo>
                  <a:pt x="54" y="4"/>
                </a:lnTo>
                <a:lnTo>
                  <a:pt x="0" y="4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754859" y="3154654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25"/>
                </a:moveTo>
                <a:lnTo>
                  <a:pt x="0" y="0"/>
                </a:lnTo>
                <a:lnTo>
                  <a:pt x="11" y="0"/>
                </a:lnTo>
                <a:lnTo>
                  <a:pt x="24" y="2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754859" y="3154681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0"/>
                </a:moveTo>
                <a:lnTo>
                  <a:pt x="0" y="25"/>
                </a:lnTo>
                <a:lnTo>
                  <a:pt x="11" y="25"/>
                </a:lnTo>
                <a:lnTo>
                  <a:pt x="24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754843" y="3154668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11"/>
                </a:moveTo>
                <a:lnTo>
                  <a:pt x="0" y="0"/>
                </a:lnTo>
                <a:lnTo>
                  <a:pt x="5" y="0"/>
                </a:lnTo>
                <a:lnTo>
                  <a:pt x="12" y="11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754843" y="3154681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0"/>
                </a:moveTo>
                <a:lnTo>
                  <a:pt x="0" y="11"/>
                </a:lnTo>
                <a:lnTo>
                  <a:pt x="5" y="11"/>
                </a:lnTo>
                <a:lnTo>
                  <a:pt x="12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754840" y="3154663"/>
            <a:ext cx="18" cy="15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12" y="15"/>
                </a:moveTo>
                <a:lnTo>
                  <a:pt x="0" y="0"/>
                </a:lnTo>
                <a:lnTo>
                  <a:pt x="7" y="0"/>
                </a:lnTo>
                <a:lnTo>
                  <a:pt x="18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1608" y="384048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B13C"/>
                </a:solidFill>
                <a:latin typeface="微软雅黑"/>
                <a:ea typeface="微软雅黑"/>
              </a:rPr>
              <a:t>举措二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4160520"/>
            <a:ext cx="2066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课程体系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1608" y="4663440"/>
            <a:ext cx="2066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打造“军旅+航空”特色课程体系：理论、实操、素养三大板块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240280"/>
            <a:ext cx="246888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2240280"/>
            <a:ext cx="24688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98047" y="3154678"/>
            <a:ext cx="68" cy="4"/>
          </a:xfrm>
          <a:custGeom>
            <a:avLst/>
            <a:gdLst/>
            <a:ahLst/>
            <a:cxnLst/>
            <a:rect l="l" t="t" r="r" b="b"/>
            <a:pathLst>
              <a:path w="68" h="4">
                <a:moveTo>
                  <a:pt x="0" y="0"/>
                </a:moveTo>
                <a:lnTo>
                  <a:pt x="54" y="0"/>
                </a:lnTo>
                <a:lnTo>
                  <a:pt x="68" y="2"/>
                </a:lnTo>
                <a:lnTo>
                  <a:pt x="54" y="4"/>
                </a:lnTo>
                <a:lnTo>
                  <a:pt x="0" y="4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498059" y="3154654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25"/>
                </a:moveTo>
                <a:lnTo>
                  <a:pt x="0" y="0"/>
                </a:lnTo>
                <a:lnTo>
                  <a:pt x="11" y="0"/>
                </a:lnTo>
                <a:lnTo>
                  <a:pt x="24" y="2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498059" y="3154681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0"/>
                </a:moveTo>
                <a:lnTo>
                  <a:pt x="0" y="25"/>
                </a:lnTo>
                <a:lnTo>
                  <a:pt x="11" y="25"/>
                </a:lnTo>
                <a:lnTo>
                  <a:pt x="24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498043" y="3154668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11"/>
                </a:moveTo>
                <a:lnTo>
                  <a:pt x="0" y="0"/>
                </a:lnTo>
                <a:lnTo>
                  <a:pt x="5" y="0"/>
                </a:lnTo>
                <a:lnTo>
                  <a:pt x="12" y="11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498043" y="3154681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0"/>
                </a:moveTo>
                <a:lnTo>
                  <a:pt x="0" y="11"/>
                </a:lnTo>
                <a:lnTo>
                  <a:pt x="5" y="11"/>
                </a:lnTo>
                <a:lnTo>
                  <a:pt x="12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498040" y="3154663"/>
            <a:ext cx="18" cy="15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12" y="15"/>
                </a:moveTo>
                <a:lnTo>
                  <a:pt x="0" y="0"/>
                </a:lnTo>
                <a:lnTo>
                  <a:pt x="7" y="0"/>
                </a:lnTo>
                <a:lnTo>
                  <a:pt x="18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64808" y="384048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B13C"/>
                </a:solidFill>
                <a:latin typeface="微软雅黑"/>
                <a:ea typeface="微软雅黑"/>
              </a:rPr>
              <a:t>举措三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4808" y="4160520"/>
            <a:ext cx="2066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项目进校园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8" y="4663440"/>
            <a:ext cx="2066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常态化开展多元教学活动：社团课程、科普讲座、模拟飞行竞赛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2240280"/>
            <a:ext cx="246888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06840" y="2240280"/>
            <a:ext cx="246888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0241247" y="3154678"/>
            <a:ext cx="68" cy="4"/>
          </a:xfrm>
          <a:custGeom>
            <a:avLst/>
            <a:gdLst/>
            <a:ahLst/>
            <a:cxnLst/>
            <a:rect l="l" t="t" r="r" b="b"/>
            <a:pathLst>
              <a:path w="68" h="4">
                <a:moveTo>
                  <a:pt x="0" y="0"/>
                </a:moveTo>
                <a:lnTo>
                  <a:pt x="54" y="0"/>
                </a:lnTo>
                <a:lnTo>
                  <a:pt x="68" y="2"/>
                </a:lnTo>
                <a:lnTo>
                  <a:pt x="54" y="4"/>
                </a:lnTo>
                <a:lnTo>
                  <a:pt x="0" y="4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1259" y="3154654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25"/>
                </a:moveTo>
                <a:lnTo>
                  <a:pt x="0" y="0"/>
                </a:lnTo>
                <a:lnTo>
                  <a:pt x="11" y="0"/>
                </a:lnTo>
                <a:lnTo>
                  <a:pt x="24" y="2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241259" y="3154681"/>
            <a:ext cx="24" cy="25"/>
          </a:xfrm>
          <a:custGeom>
            <a:avLst/>
            <a:gdLst/>
            <a:ahLst/>
            <a:cxnLst/>
            <a:rect l="l" t="t" r="r" b="b"/>
            <a:pathLst>
              <a:path w="24" h="25">
                <a:moveTo>
                  <a:pt x="17" y="0"/>
                </a:moveTo>
                <a:lnTo>
                  <a:pt x="0" y="25"/>
                </a:lnTo>
                <a:lnTo>
                  <a:pt x="11" y="25"/>
                </a:lnTo>
                <a:lnTo>
                  <a:pt x="24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241243" y="3154668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11"/>
                </a:moveTo>
                <a:lnTo>
                  <a:pt x="0" y="0"/>
                </a:lnTo>
                <a:lnTo>
                  <a:pt x="5" y="0"/>
                </a:lnTo>
                <a:lnTo>
                  <a:pt x="12" y="11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241243" y="3154681"/>
            <a:ext cx="12" cy="11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8" y="0"/>
                </a:moveTo>
                <a:lnTo>
                  <a:pt x="0" y="11"/>
                </a:lnTo>
                <a:lnTo>
                  <a:pt x="5" y="11"/>
                </a:lnTo>
                <a:lnTo>
                  <a:pt x="12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0241240" y="3154663"/>
            <a:ext cx="18" cy="15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12" y="15"/>
                </a:moveTo>
                <a:lnTo>
                  <a:pt x="0" y="0"/>
                </a:lnTo>
                <a:lnTo>
                  <a:pt x="7" y="0"/>
                </a:lnTo>
                <a:lnTo>
                  <a:pt x="18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08008" y="384048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B13C"/>
                </a:solidFill>
                <a:latin typeface="微软雅黑"/>
                <a:ea typeface="微软雅黑"/>
              </a:rPr>
              <a:t>举措四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8008" y="4160520"/>
            <a:ext cx="2066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课堂管理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08008" y="4663440"/>
            <a:ext cx="2066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规范课堂管理，传承优良作风：仪式教育、学员守则、严谨训练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03  ·  MEASURE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举措一：退役军人模拟飞行教练员师资培训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45920"/>
            <a:ext cx="10607040" cy="443484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45920"/>
            <a:ext cx="64008" cy="443484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20240"/>
            <a:ext cx="9966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我们优先选拔作风优良、热爱航空事业的退役军人，系统开展航空理论、模拟飞行教学方法、中小学生课堂授课、青少年心理引导等全套培训，参训人员通过考核后取得中国航协模拟飞行教练员证书，持证上岗，担任校园航空教官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退役军人可以把部队养成的严谨作风带入课堂，在教学中分享军营故事、普及国防知识，以自身形象为青少年树立鲜活榜样。这套持证培训体系，为退役军人打造一条规范化的就业创业新路径，充分发挥退役军人的优良素养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972764" y="630935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972778" y="630933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972778" y="630936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972760" y="630934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972760" y="630936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72757" y="630934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03  ·  MEASURE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举措二：打造“军旅+航空”特色课程体系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45920"/>
            <a:ext cx="10607040" cy="443484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45920"/>
            <a:ext cx="64008" cy="443484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20240"/>
            <a:ext cx="9966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课程分为三大板块：航空国防理论、模拟飞行实操、军旅素养培育。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理论板块：讲解航空发展史，讲述冯如等航空先驱事迹、空军发展历程，普及基础国防常识；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实操板块：模拟飞行训练，学习飞行操控、航图识读、气象基础知识，锻炼孩子专注力与临场应变能力；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素养板块：借鉴军旅管理模式，设置开班仪式、学员宣誓、授肩章仪式、老带新互助机制，培养学员纪律意识、团队精神。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昆山市实验小学、星海小学、新城花园小学的雏鹰社团课堂，开班授章、学员宣誓、老生帮扶新生，就是这套课程体系的真实落地。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972764" y="630935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972778" y="630933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972778" y="630936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972760" y="630934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972760" y="630936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72757" y="630934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03  ·  MEASURE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举措三：推进项目进校园，常态化多元教学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45920"/>
            <a:ext cx="10607040" cy="443484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45920"/>
            <a:ext cx="64008" cy="443484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20240"/>
            <a:ext cx="9966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我们已和苏州多所公办小学建立合作，在校内开设起飞雏鹰科技社团，每周开展固定课程；入校举办航空国防科普专题讲座；组织学员参加全国青少年模拟飞行竞赛。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课堂推行老带新模式，高年级学员帮扶低年级学员，搭建学员骨干梯队。教学全程由退役军人教官带队，让国防教育融入日常课堂，而不是一次性的短期活动。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972764" y="630935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972778" y="630933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972778" y="630936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972760" y="630934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972760" y="630936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72757" y="630934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03  ·  MEASURE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举措四：规范课堂管理，传承优良作风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645920"/>
            <a:ext cx="10607040" cy="443484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645920"/>
            <a:ext cx="64008" cy="443484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920240"/>
            <a:ext cx="9966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借鉴部队管理理念，制定学员守则，强化仪式教育。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开班宣誓、评优表彰、授肩章等仪式，不断增强学员使命感。</a:t>
            </a:r>
          </a:p>
          <a:p>
            <a:pPr algn="l">
              <a:lnSpc>
                <a:spcPct val="138000"/>
              </a:lnSpc>
              <a:spcAft>
                <a:spcPts val="12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模拟飞行训练中，要求学员严谨细致，树立如同真实飞行员一般的责任意识，在保护孩子探索兴趣的同时，潜移默化塑造优良品格。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972764" y="630935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972778" y="630933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972778" y="630936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972760" y="630934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972760" y="630936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72757" y="630934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04  ·  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四、项目实践成果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155448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C9D6E8"/>
                </a:solidFill>
                <a:latin typeface="微软雅黑"/>
                <a:ea typeface="微软雅黑"/>
              </a:rPr>
              <a:t>目前项目已经在苏州多所公办小学落地，包括昆山市实验小学、星海小学等，开设起飞雏鹰科技社团，累计服务数百名中小学生，形成稳定、常态化的校内社团课程。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514600"/>
            <a:ext cx="333756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2514600"/>
            <a:ext cx="333756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2788920"/>
            <a:ext cx="82296" cy="38404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学员培养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3832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学员从零开始学习模拟飞行，多名学员参与中国航协主办的全国青少年模拟飞行赛事，斩获多项荣誉。学员不仅掌握扎实航空知识，自律性、专注力、团队协作能力都得到显著提升，涌现郁承玥等品学兼优的学员榜样。很多孩子确立航空报国理想，兼顾文化课学习，实现德智体全面发展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6552" y="2514600"/>
            <a:ext cx="333756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16552" y="2514600"/>
            <a:ext cx="3337560" cy="3048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45152" y="2788920"/>
            <a:ext cx="82296" cy="38404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退役军人就业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3832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多名退役军人通过我们的航协教练员培训，顺利持证上岗，加入起飞航空教官团队，完成从军人到航空科普教官的转型，获得稳定就业，找到全新价值舞台。他们把部队优良作风带进校园课堂，得到合作学校、广大家长的一致认可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5864" y="2514600"/>
            <a:ext cx="3337560" cy="338328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5864" y="2514600"/>
            <a:ext cx="333756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4" y="2788920"/>
            <a:ext cx="82296" cy="38404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7344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校社合作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33832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学校高度认可我们的课程，课程丰富了学校课后服务、科技社团内容，充实校园国防教育载体，落实体教融合相关要求，打造校社协同、军地共育的特色案例。不少家长反馈，孩子在课程中学会坚持、增强自信，树立远大理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05  ·  SOCIAL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五、项目社会效益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项目实现双向社会效益。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240280"/>
            <a:ext cx="3337560" cy="34290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2240280"/>
            <a:ext cx="333756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468844" y="329183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468858" y="329181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68858" y="329184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468840" y="329182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468840" y="329184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468837" y="329182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931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对退役军人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43484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拓宽就业赛道，让退役军人忠诚可靠、作风过硬的特质充分发挥，实现人生二次价值，落实国家支持退役军人就业创业的政策要求。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16552" y="2240280"/>
            <a:ext cx="3337560" cy="34290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16552" y="2240280"/>
            <a:ext cx="333756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108156" y="329183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108170" y="329181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108170" y="329184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108152" y="329182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108152" y="329184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108149" y="329182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3931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对青少年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43484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将国防教育从书本延伸至模拟飞行实操课堂，厚植爱国情怀，树立航空报国理想，锻炼专注力、动手能力与抗压能力，助力青少年全面成长。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5864" y="2240280"/>
            <a:ext cx="3337560" cy="34290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55864" y="2240280"/>
            <a:ext cx="3337560" cy="3048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747468" y="3291837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747482" y="3291812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9747482" y="3291841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747464" y="3291827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747464" y="3291841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747461" y="3291822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3931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对学校与社会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443484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C9D6E8"/>
                </a:solidFill>
                <a:latin typeface="微软雅黑"/>
                <a:ea typeface="微软雅黑"/>
              </a:rPr>
              <a:t>丰富中小学课后延时服务、科技教育、国防教育载体，助力全民国防教育走深走实，打造军地融合育人的创新样板。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FC6F0"/>
                </a:solidFill>
                <a:latin typeface="微软雅黑"/>
                <a:ea typeface="微软雅黑"/>
              </a:rPr>
              <a:t>SECTION 06  · 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六、未来规划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603504"/>
            <a:ext cx="64008" cy="5029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881324" y="566925"/>
            <a:ext cx="73" cy="6"/>
          </a:xfrm>
          <a:custGeom>
            <a:avLst/>
            <a:gdLst/>
            <a:ahLst/>
            <a:cxnLst/>
            <a:rect l="l" t="t" r="r" b="b"/>
            <a:pathLst>
              <a:path w="73" h="6">
                <a:moveTo>
                  <a:pt x="0" y="0"/>
                </a:moveTo>
                <a:lnTo>
                  <a:pt x="58" y="0"/>
                </a:lnTo>
                <a:lnTo>
                  <a:pt x="73" y="3"/>
                </a:lnTo>
                <a:lnTo>
                  <a:pt x="58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881338" y="566900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27"/>
                </a:moveTo>
                <a:lnTo>
                  <a:pt x="0" y="0"/>
                </a:lnTo>
                <a:lnTo>
                  <a:pt x="11" y="0"/>
                </a:lnTo>
                <a:lnTo>
                  <a:pt x="25" y="27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881338" y="566929"/>
            <a:ext cx="25" cy="27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18" y="0"/>
                </a:moveTo>
                <a:lnTo>
                  <a:pt x="0" y="27"/>
                </a:lnTo>
                <a:lnTo>
                  <a:pt x="11" y="27"/>
                </a:lnTo>
                <a:lnTo>
                  <a:pt x="2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881320" y="566915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12"/>
                </a:moveTo>
                <a:lnTo>
                  <a:pt x="0" y="0"/>
                </a:lnTo>
                <a:lnTo>
                  <a:pt x="6" y="0"/>
                </a:lnTo>
                <a:lnTo>
                  <a:pt x="13" y="1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881320" y="566929"/>
            <a:ext cx="13" cy="12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9" y="0"/>
                </a:moveTo>
                <a:lnTo>
                  <a:pt x="0" y="12"/>
                </a:lnTo>
                <a:lnTo>
                  <a:pt x="6" y="12"/>
                </a:lnTo>
                <a:lnTo>
                  <a:pt x="13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881317" y="566910"/>
            <a:ext cx="19" cy="15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3" y="15"/>
                </a:moveTo>
                <a:lnTo>
                  <a:pt x="0" y="0"/>
                </a:lnTo>
                <a:lnTo>
                  <a:pt x="8" y="0"/>
                </a:lnTo>
                <a:lnTo>
                  <a:pt x="19" y="15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261872"/>
            <a:ext cx="11183112" cy="1524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257300"/>
            <a:ext cx="2011680" cy="3302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9D6E8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1737360"/>
            <a:ext cx="64008" cy="41148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2057400"/>
            <a:ext cx="99669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700" b="1">
                <a:solidFill>
                  <a:srgbClr val="F2B13C"/>
                </a:solidFill>
                <a:latin typeface="微软雅黑"/>
                <a:ea typeface="微软雅黑"/>
              </a:rPr>
              <a:t>下一步，江苏起飞航空将持续深耕青少年航空国防教育。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持续扩大退役军人教练员培训规模，壮大持证教官队伍，迭代优化课程体系，拓展更多校园合作，持续开展航空科普、社团教学、模拟飞行赛事活动。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500" b="0">
                <a:solidFill>
                  <a:srgbClr val="C9D6E8"/>
                </a:solidFill>
                <a:latin typeface="微软雅黑"/>
                <a:ea typeface="微软雅黑"/>
              </a:rPr>
              <a:t>坚持军旅文化与飞行文化深度融合，打造可复制、可推广的军地协同航空国防教育项目，培育更多心怀蓝天、航空报国的新时代青少年。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881322" y="6126477"/>
            <a:ext cx="78" cy="6"/>
          </a:xfrm>
          <a:custGeom>
            <a:avLst/>
            <a:gdLst/>
            <a:ahLst/>
            <a:cxnLst/>
            <a:rect l="l" t="t" r="r" b="b"/>
            <a:pathLst>
              <a:path w="78" h="6">
                <a:moveTo>
                  <a:pt x="0" y="0"/>
                </a:moveTo>
                <a:lnTo>
                  <a:pt x="62" y="0"/>
                </a:lnTo>
                <a:lnTo>
                  <a:pt x="78" y="3"/>
                </a:lnTo>
                <a:lnTo>
                  <a:pt x="62" y="6"/>
                </a:lnTo>
                <a:lnTo>
                  <a:pt x="0" y="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881336" y="6126450"/>
            <a:ext cx="27" cy="29"/>
          </a:xfrm>
          <a:custGeom>
            <a:avLst/>
            <a:gdLst/>
            <a:ahLst/>
            <a:cxnLst/>
            <a:rect l="l" t="t" r="r" b="b"/>
            <a:pathLst>
              <a:path w="27" h="29">
                <a:moveTo>
                  <a:pt x="20" y="29"/>
                </a:moveTo>
                <a:lnTo>
                  <a:pt x="0" y="0"/>
                </a:lnTo>
                <a:lnTo>
                  <a:pt x="12" y="0"/>
                </a:lnTo>
                <a:lnTo>
                  <a:pt x="27" y="29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881336" y="6126481"/>
            <a:ext cx="27" cy="29"/>
          </a:xfrm>
          <a:custGeom>
            <a:avLst/>
            <a:gdLst/>
            <a:ahLst/>
            <a:cxnLst/>
            <a:rect l="l" t="t" r="r" b="b"/>
            <a:pathLst>
              <a:path w="27" h="29">
                <a:moveTo>
                  <a:pt x="20" y="0"/>
                </a:moveTo>
                <a:lnTo>
                  <a:pt x="0" y="29"/>
                </a:lnTo>
                <a:lnTo>
                  <a:pt x="12" y="29"/>
                </a:lnTo>
                <a:lnTo>
                  <a:pt x="27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881317" y="6126466"/>
            <a:ext cx="14" cy="13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0" y="13"/>
                </a:moveTo>
                <a:lnTo>
                  <a:pt x="0" y="0"/>
                </a:lnTo>
                <a:lnTo>
                  <a:pt x="7" y="0"/>
                </a:lnTo>
                <a:lnTo>
                  <a:pt x="14" y="13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881317" y="6126481"/>
            <a:ext cx="14" cy="13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0" y="0"/>
                </a:moveTo>
                <a:lnTo>
                  <a:pt x="0" y="13"/>
                </a:lnTo>
                <a:lnTo>
                  <a:pt x="7" y="13"/>
                </a:lnTo>
                <a:lnTo>
                  <a:pt x="14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881314" y="6126461"/>
            <a:ext cx="21" cy="16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14" y="16"/>
                </a:moveTo>
                <a:lnTo>
                  <a:pt x="0" y="0"/>
                </a:lnTo>
                <a:lnTo>
                  <a:pt x="9" y="0"/>
                </a:lnTo>
                <a:lnTo>
                  <a:pt x="21" y="1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noFill/>
          <a:ln w="127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669280"/>
            <a:ext cx="2377440" cy="2377440"/>
          </a:xfrm>
          <a:prstGeom prst="ellipse">
            <a:avLst/>
          </a:prstGeom>
          <a:noFill/>
          <a:ln w="1524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1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799" y="6656832"/>
            <a:ext cx="1097280" cy="1397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326760" y="2011670"/>
            <a:ext cx="245" cy="20"/>
          </a:xfrm>
          <a:custGeom>
            <a:avLst/>
            <a:gdLst/>
            <a:ahLst/>
            <a:cxnLst/>
            <a:rect l="l" t="t" r="r" b="b"/>
            <a:pathLst>
              <a:path w="245" h="20">
                <a:moveTo>
                  <a:pt x="0" y="0"/>
                </a:moveTo>
                <a:lnTo>
                  <a:pt x="195" y="0"/>
                </a:lnTo>
                <a:lnTo>
                  <a:pt x="245" y="10"/>
                </a:lnTo>
                <a:lnTo>
                  <a:pt x="195" y="20"/>
                </a:lnTo>
                <a:lnTo>
                  <a:pt x="0" y="2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326805" y="2011585"/>
            <a:ext cx="87" cy="90"/>
          </a:xfrm>
          <a:custGeom>
            <a:avLst/>
            <a:gdLst/>
            <a:ahLst/>
            <a:cxnLst/>
            <a:rect l="l" t="t" r="r" b="b"/>
            <a:pathLst>
              <a:path w="87" h="90">
                <a:moveTo>
                  <a:pt x="60" y="90"/>
                </a:moveTo>
                <a:lnTo>
                  <a:pt x="0" y="0"/>
                </a:lnTo>
                <a:lnTo>
                  <a:pt x="37" y="0"/>
                </a:lnTo>
                <a:lnTo>
                  <a:pt x="87" y="9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326805" y="2011685"/>
            <a:ext cx="87" cy="90"/>
          </a:xfrm>
          <a:custGeom>
            <a:avLst/>
            <a:gdLst/>
            <a:ahLst/>
            <a:cxnLst/>
            <a:rect l="l" t="t" r="r" b="b"/>
            <a:pathLst>
              <a:path w="87" h="90">
                <a:moveTo>
                  <a:pt x="60" y="0"/>
                </a:moveTo>
                <a:lnTo>
                  <a:pt x="0" y="90"/>
                </a:lnTo>
                <a:lnTo>
                  <a:pt x="37" y="90"/>
                </a:lnTo>
                <a:lnTo>
                  <a:pt x="87" y="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326745" y="2011635"/>
            <a:ext cx="43" cy="39"/>
          </a:xfrm>
          <a:custGeom>
            <a:avLst/>
            <a:gdLst/>
            <a:ahLst/>
            <a:cxnLst/>
            <a:rect l="l" t="t" r="r" b="b"/>
            <a:pathLst>
              <a:path w="43" h="39">
                <a:moveTo>
                  <a:pt x="30" y="39"/>
                </a:moveTo>
                <a:lnTo>
                  <a:pt x="0" y="0"/>
                </a:lnTo>
                <a:lnTo>
                  <a:pt x="21" y="0"/>
                </a:lnTo>
                <a:lnTo>
                  <a:pt x="43" y="39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326745" y="2011686"/>
            <a:ext cx="43" cy="39"/>
          </a:xfrm>
          <a:custGeom>
            <a:avLst/>
            <a:gdLst/>
            <a:ahLst/>
            <a:cxnLst/>
            <a:rect l="l" t="t" r="r" b="b"/>
            <a:pathLst>
              <a:path w="43" h="39">
                <a:moveTo>
                  <a:pt x="30" y="0"/>
                </a:moveTo>
                <a:lnTo>
                  <a:pt x="0" y="39"/>
                </a:lnTo>
                <a:lnTo>
                  <a:pt x="21" y="39"/>
                </a:lnTo>
                <a:lnTo>
                  <a:pt x="43" y="0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326735" y="2011618"/>
            <a:ext cx="65" cy="52"/>
          </a:xfrm>
          <a:custGeom>
            <a:avLst/>
            <a:gdLst/>
            <a:ahLst/>
            <a:cxnLst/>
            <a:rect l="l" t="t" r="r" b="b"/>
            <a:pathLst>
              <a:path w="65" h="52">
                <a:moveTo>
                  <a:pt x="45" y="52"/>
                </a:moveTo>
                <a:lnTo>
                  <a:pt x="0" y="0"/>
                </a:lnTo>
                <a:lnTo>
                  <a:pt x="27" y="0"/>
                </a:lnTo>
                <a:lnTo>
                  <a:pt x="65" y="52"/>
                </a:lnTo>
                <a:close/>
              </a:path>
            </a:pathLst>
          </a:cu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326784" y="2011672"/>
            <a:ext cx="196" cy="16"/>
          </a:xfrm>
          <a:custGeom>
            <a:avLst/>
            <a:gdLst/>
            <a:ahLst/>
            <a:cxnLst/>
            <a:rect l="l" t="t" r="r" b="b"/>
            <a:pathLst>
              <a:path w="196" h="16">
                <a:moveTo>
                  <a:pt x="0" y="0"/>
                </a:moveTo>
                <a:lnTo>
                  <a:pt x="156" y="0"/>
                </a:lnTo>
                <a:lnTo>
                  <a:pt x="196" y="8"/>
                </a:lnTo>
                <a:lnTo>
                  <a:pt x="156" y="16"/>
                </a:lnTo>
                <a:lnTo>
                  <a:pt x="0" y="16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326820" y="2011604"/>
            <a:ext cx="69" cy="72"/>
          </a:xfrm>
          <a:custGeom>
            <a:avLst/>
            <a:gdLst/>
            <a:ahLst/>
            <a:cxnLst/>
            <a:rect l="l" t="t" r="r" b="b"/>
            <a:pathLst>
              <a:path w="69" h="72">
                <a:moveTo>
                  <a:pt x="48" y="72"/>
                </a:moveTo>
                <a:lnTo>
                  <a:pt x="0" y="0"/>
                </a:lnTo>
                <a:lnTo>
                  <a:pt x="30" y="0"/>
                </a:lnTo>
                <a:lnTo>
                  <a:pt x="69" y="7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326820" y="2011684"/>
            <a:ext cx="69" cy="72"/>
          </a:xfrm>
          <a:custGeom>
            <a:avLst/>
            <a:gdLst/>
            <a:ahLst/>
            <a:cxnLst/>
            <a:rect l="l" t="t" r="r" b="b"/>
            <a:pathLst>
              <a:path w="69" h="72">
                <a:moveTo>
                  <a:pt x="48" y="0"/>
                </a:moveTo>
                <a:lnTo>
                  <a:pt x="0" y="72"/>
                </a:lnTo>
                <a:lnTo>
                  <a:pt x="30" y="72"/>
                </a:lnTo>
                <a:lnTo>
                  <a:pt x="69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326772" y="2011644"/>
            <a:ext cx="35" cy="32"/>
          </a:xfrm>
          <a:custGeom>
            <a:avLst/>
            <a:gdLst/>
            <a:ahLst/>
            <a:cxnLst/>
            <a:rect l="l" t="t" r="r" b="b"/>
            <a:pathLst>
              <a:path w="35" h="32">
                <a:moveTo>
                  <a:pt x="24" y="32"/>
                </a:moveTo>
                <a:lnTo>
                  <a:pt x="0" y="0"/>
                </a:lnTo>
                <a:lnTo>
                  <a:pt x="16" y="0"/>
                </a:lnTo>
                <a:lnTo>
                  <a:pt x="35" y="32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326772" y="2011684"/>
            <a:ext cx="35" cy="32"/>
          </a:xfrm>
          <a:custGeom>
            <a:avLst/>
            <a:gdLst/>
            <a:ahLst/>
            <a:cxnLst/>
            <a:rect l="l" t="t" r="r" b="b"/>
            <a:pathLst>
              <a:path w="35" h="32">
                <a:moveTo>
                  <a:pt x="24" y="0"/>
                </a:moveTo>
                <a:lnTo>
                  <a:pt x="0" y="32"/>
                </a:lnTo>
                <a:lnTo>
                  <a:pt x="16" y="32"/>
                </a:lnTo>
                <a:lnTo>
                  <a:pt x="35" y="0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326764" y="2011631"/>
            <a:ext cx="52" cy="41"/>
          </a:xfrm>
          <a:custGeom>
            <a:avLst/>
            <a:gdLst/>
            <a:ahLst/>
            <a:cxnLst/>
            <a:rect l="l" t="t" r="r" b="b"/>
            <a:pathLst>
              <a:path w="52" h="41">
                <a:moveTo>
                  <a:pt x="36" y="41"/>
                </a:moveTo>
                <a:lnTo>
                  <a:pt x="0" y="0"/>
                </a:lnTo>
                <a:lnTo>
                  <a:pt x="22" y="0"/>
                </a:lnTo>
                <a:lnTo>
                  <a:pt x="52" y="41"/>
                </a:lnTo>
                <a:close/>
              </a:path>
            </a:pathLst>
          </a:cu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212848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2231136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7376" y="2249424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9984" y="2267712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22592" y="2286000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304288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07808" y="2322576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0416" y="2340864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2359152"/>
            <a:ext cx="146304" cy="3048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2286000"/>
            <a:ext cx="2377440" cy="38100"/>
          </a:xfrm>
          <a:prstGeom prst="rect">
            <a:avLst/>
          </a:prstGeom>
          <a:solidFill>
            <a:srgbClr val="3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256032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结束语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70332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0">
                <a:solidFill>
                  <a:srgbClr val="C9D6E8"/>
                </a:solidFill>
                <a:latin typeface="微软雅黑"/>
                <a:ea typeface="微软雅黑"/>
              </a:rPr>
              <a:t>各位领导，以上就是江苏起飞航空项目的汇报。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0">
                <a:solidFill>
                  <a:srgbClr val="C9D6E8"/>
                </a:solidFill>
                <a:latin typeface="微软雅黑"/>
                <a:ea typeface="微软雅黑"/>
              </a:rPr>
              <a:t>我们将继续紧跟国家政策，发挥退役军人独特优势，深耕校园航空国防教育。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2000" b="1">
                <a:solidFill>
                  <a:srgbClr val="F2B13C"/>
                </a:solidFill>
                <a:latin typeface="微软雅黑"/>
                <a:ea typeface="微软雅黑"/>
              </a:rPr>
              <a:t>恳请各位领导多多指导！谢谢大家！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1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C9D6E8"/>
                </a:solidFill>
                <a:latin typeface="微软雅黑"/>
                <a:ea typeface="微软雅黑"/>
              </a:rPr>
              <a:t>江苏起飞航空  ·  青少年航空国防科技教育项目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