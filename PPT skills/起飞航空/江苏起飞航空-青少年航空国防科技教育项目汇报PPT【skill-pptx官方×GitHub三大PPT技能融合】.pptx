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5606" y="1695298"/>
            <a:ext cx="149138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spc="240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江苏起飞航空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2443277" y="1741018"/>
            <a:ext cx="2133295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JIANGSU QIFEI AVIATION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58698" y="2266798"/>
            <a:ext cx="11239805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spc="510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青少年航空国防科技教育项目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2756002"/>
            <a:ext cx="11239805" cy="81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zh-CN" altLang="en-US" sz="5900" spc="354" kern="0" dirty="0">
                <a:solidFill>
                  <a:srgbClr val="F2F7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老兵当教官</a:t>
            </a:r>
            <a:pPr algn="l" indent="0" marL="0">
              <a:lnSpc>
                <a:spcPts val="5900"/>
              </a:lnSpc>
              <a:buNone/>
            </a:pPr>
            <a:r>
              <a:rPr lang="en-US" altLang="en-US" sz="5900" spc="354" kern="0" dirty="0">
                <a:solidFill>
                  <a:srgbClr val="5BC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</a:t>
            </a:r>
            <a:pPr algn="l" indent="0" marL="0">
              <a:lnSpc>
                <a:spcPts val="5900"/>
              </a:lnSpc>
              <a:buNone/>
            </a:pPr>
            <a:r>
              <a:rPr lang="zh-CN" altLang="en-US" sz="5900" spc="354" kern="0" dirty="0">
                <a:solidFill>
                  <a:srgbClr val="F2F7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蓝天为课堂</a:t>
            </a:r>
            <a:endParaRPr lang="en-US" sz="5900" dirty="0"/>
          </a:p>
        </p:txBody>
      </p:sp>
      <p:sp>
        <p:nvSpPr>
          <p:cNvPr id="6" name="Text 4"/>
          <p:cNvSpPr txBox="1"/>
          <p:nvPr/>
        </p:nvSpPr>
        <p:spPr>
          <a:xfrm>
            <a:off x="558698" y="3631997"/>
            <a:ext cx="11239805" cy="81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zh-CN" altLang="en-US" sz="5900" spc="354" kern="0" dirty="0">
                <a:solidFill>
                  <a:srgbClr val="F2F7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航空为载体</a:t>
            </a:r>
            <a:pPr algn="l" indent="0" marL="0">
              <a:lnSpc>
                <a:spcPts val="5900"/>
              </a:lnSpc>
              <a:buNone/>
            </a:pPr>
            <a:r>
              <a:rPr lang="en-US" altLang="en-US" sz="5900" spc="354" kern="0" dirty="0">
                <a:solidFill>
                  <a:srgbClr val="5BC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</a:t>
            </a:r>
            <a:pPr algn="l" indent="0" marL="0">
              <a:lnSpc>
                <a:spcPts val="5900"/>
              </a:lnSpc>
              <a:buNone/>
            </a:pPr>
            <a:r>
              <a:rPr lang="zh-CN" altLang="en-US" sz="5900" spc="354" kern="0" dirty="0">
                <a:solidFill>
                  <a:srgbClr val="F2F7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国防育少年</a:t>
            </a:r>
            <a:endParaRPr lang="en-US" sz="5900" dirty="0"/>
          </a:p>
        </p:txBody>
      </p:sp>
      <p:sp>
        <p:nvSpPr>
          <p:cNvPr id="7" name="Text 5"/>
          <p:cNvSpPr txBox="1"/>
          <p:nvPr/>
        </p:nvSpPr>
        <p:spPr>
          <a:xfrm>
            <a:off x="895198" y="4762195"/>
            <a:ext cx="120517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1300" spc="65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模拟飞行教学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08783" y="4762195"/>
            <a:ext cx="13789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1300" spc="65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航空科普进校园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95190" y="4762195"/>
            <a:ext cx="15517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1300" spc="65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退役军人持证上岗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58698" y="6566306"/>
            <a:ext cx="1622146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汇报单位 · 江苏起飞航空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369503" y="6581851"/>
            <a:ext cx="3429000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24" kern="0" dirty="0">
                <a:solidFill>
                  <a:srgbClr val="7C93AE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YOUTH AVIATION &amp; NATIONAL DEFENSE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1078078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CONTENTS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2132381" y="437998"/>
            <a:ext cx="860450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汇报目录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六个方面 · 展开汇报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93699" y="2065630"/>
            <a:ext cx="528523" cy="47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3200" spc="64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335024" y="2117750"/>
            <a:ext cx="1171346" cy="29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zh-CN" altLang="en-US" sz="1800" spc="180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956048" y="2189988"/>
            <a:ext cx="987552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13602" y="2065630"/>
            <a:ext cx="594360" cy="47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3200" spc="64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019849" y="2117750"/>
            <a:ext cx="1171346" cy="29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zh-CN" altLang="en-US" sz="1800" spc="180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项目理念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620756" y="2189988"/>
            <a:ext cx="941832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Philosophy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93699" y="3709721"/>
            <a:ext cx="600761" cy="47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3200" spc="64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407262" y="3762756"/>
            <a:ext cx="1171346" cy="29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zh-CN" altLang="en-US" sz="1800" spc="180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实施举措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19726" y="3834994"/>
            <a:ext cx="823874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Measures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413602" y="3709721"/>
            <a:ext cx="612648" cy="47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3200" spc="64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039051" y="3762756"/>
            <a:ext cx="1171346" cy="29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zh-CN" altLang="en-US" sz="1800" spc="180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实践成果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460736" y="3834994"/>
            <a:ext cx="1102766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Achievements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93699" y="5354726"/>
            <a:ext cx="598018" cy="47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3200" spc="64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05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404518" y="5406847"/>
            <a:ext cx="1171346" cy="29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zh-CN" altLang="en-US" sz="1800" spc="180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社会效益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813402" y="5479999"/>
            <a:ext cx="1130198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Social Impact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413602" y="5354726"/>
            <a:ext cx="605333" cy="47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3200" spc="64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06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031736" y="5406847"/>
            <a:ext cx="1171346" cy="29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zh-CN" altLang="en-US" sz="1800" spc="180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未来规划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810951" y="5479999"/>
            <a:ext cx="752551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Roadmap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04143" y="6569964"/>
            <a:ext cx="594360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02 / 15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58445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12748" y="437998"/>
            <a:ext cx="860450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34118" y="464515"/>
            <a:ext cx="2164385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Project Background 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政策导向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宝贵特质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946404" y="1746504"/>
            <a:ext cx="927202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政策导向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2025396"/>
            <a:ext cx="504200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国防教育是国民教育体系的重要组成部分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3097" y="2318004"/>
            <a:ext cx="39374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党和国家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高度重视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全民国防教育、中小学科技教育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3097" y="2734970"/>
            <a:ext cx="3642055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大力推进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退役军人就业创业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工作,出台多项政策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3097" y="3152851"/>
            <a:ext cx="27367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鼓励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社会力量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参与国防教育进校园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3097" y="3569818"/>
            <a:ext cx="27367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支持退役军人投身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社会化服务岗位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97396" y="1746504"/>
            <a:ext cx="196504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退役军人 · 宝贵特质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025396"/>
            <a:ext cx="504200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dirty="0">
                <a:solidFill>
                  <a:srgbClr val="E2B15C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党和军队精心培养的忠诚卫士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55003" y="2318004"/>
            <a:ext cx="2613355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经过军营长期淬炼,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政治立场坚定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655003" y="2734970"/>
            <a:ext cx="22229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纪律作风顽强、执行力突出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55003" y="3152851"/>
            <a:ext cx="20509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自带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家国情怀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责任担当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655003" y="3569818"/>
            <a:ext cx="29087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正是青少年国防教育、品格养成教育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655003" y="3987698"/>
            <a:ext cx="18800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所急需的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优质师资素养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01400" y="6569964"/>
            <a:ext cx="596189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 / 15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58445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12748" y="437998"/>
            <a:ext cx="860450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34118" y="464515"/>
            <a:ext cx="2164385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Project Background Ⅱ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现实需求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发展方向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72998" y="1492301"/>
            <a:ext cx="927202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现实需求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546250"/>
            <a:ext cx="671170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Demand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0606" y="1822399"/>
            <a:ext cx="4155948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不少中小学生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怀揣航空梦想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,对蓝天、飞行器充满好奇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0606" y="2252167"/>
            <a:ext cx="29087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校园航空国防教育形式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往往比较单一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0606" y="2682850"/>
            <a:ext cx="4670755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传统科普多以理论宣讲为主,缺少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沉浸式、可动手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的实操体验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0606" y="3112618"/>
            <a:ext cx="41083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模拟飞行将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航空知识、国防理念、实操训练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融为一体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30606" y="3543300"/>
            <a:ext cx="17080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趣味性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教育性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兼备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35724" y="1759306"/>
            <a:ext cx="130850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发展方向确立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2011680"/>
            <a:ext cx="4690872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altLang="en-US" sz="1000" spc="240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92417" y="2642616"/>
            <a:ext cx="25658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军旅文化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飞行文化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深度融合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992417" y="3436315"/>
            <a:ext cx="29087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深耕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青少年航空教育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模拟飞行项目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992417" y="4230014"/>
            <a:ext cx="44512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面向退役军人开设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中国航协模拟飞行教练员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专项师资培训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992417" y="5022799"/>
            <a:ext cx="3299155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考核通过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持证上岗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,开辟就业创业全新赛道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5848502"/>
            <a:ext cx="46908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130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让老兵脱下军装后,在校园国防教育新岗位上继续发光发热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98657" y="6569964"/>
            <a:ext cx="599846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04 / 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88620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2923" y="437998"/>
            <a:ext cx="120792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项目核心理念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972446" y="464515"/>
            <a:ext cx="1826057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Core Philosophy 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核心思路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一句话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2973629" y="1721815"/>
            <a:ext cx="6409944" cy="64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zh-CN" altLang="en-US" sz="4600" spc="184" kern="0" dirty="0">
                <a:solidFill>
                  <a:srgbClr val="F2F7FD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老兵当教官</a:t>
            </a:r>
            <a:pPr algn="l" indent="0" marL="0">
              <a:lnSpc>
                <a:spcPts val="4600"/>
              </a:lnSpc>
              <a:buNone/>
            </a:pPr>
            <a:r>
              <a:rPr lang="en-US" altLang="en-US" sz="4600" spc="184" kern="0" dirty="0">
                <a:solidFill>
                  <a:srgbClr val="5BC8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,</a:t>
            </a:r>
            <a:pPr algn="l" indent="0" marL="0">
              <a:lnSpc>
                <a:spcPts val="4600"/>
              </a:lnSpc>
              <a:buNone/>
            </a:pPr>
            <a:r>
              <a:rPr lang="zh-CN" altLang="en-US" sz="4600" spc="184" kern="0" dirty="0">
                <a:solidFill>
                  <a:srgbClr val="F2F7FD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蓝天为课堂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2973629" y="2445106"/>
            <a:ext cx="6409944" cy="64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zh-CN" altLang="en-US" sz="4600" spc="184" kern="0" dirty="0">
                <a:solidFill>
                  <a:srgbClr val="F2F7FD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航空为载体</a:t>
            </a:r>
            <a:pPr algn="l" indent="0" marL="0">
              <a:lnSpc>
                <a:spcPts val="4600"/>
              </a:lnSpc>
              <a:buNone/>
            </a:pPr>
            <a:r>
              <a:rPr lang="en-US" altLang="en-US" sz="4600" spc="184" kern="0" dirty="0">
                <a:solidFill>
                  <a:srgbClr val="5BC8FF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,</a:t>
            </a:r>
            <a:pPr algn="l" indent="0" marL="0">
              <a:lnSpc>
                <a:spcPts val="4600"/>
              </a:lnSpc>
              <a:buNone/>
            </a:pPr>
            <a:r>
              <a:rPr lang="zh-CN" altLang="en-US" sz="4600" spc="184" kern="0" dirty="0">
                <a:solidFill>
                  <a:srgbClr val="F2F7FD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国防育少年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72998" y="3346704"/>
            <a:ext cx="1774850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第一 · 双文化融合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447849" y="3399739"/>
            <a:ext cx="2105863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Military × Aviation Culture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19302" y="3879799"/>
            <a:ext cx="5067605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飞行文化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19302" y="4146804"/>
            <a:ext cx="5067605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严谨规范 · 生命至上 · 责任为先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70294" y="3879799"/>
            <a:ext cx="5067605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军旅文化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70294" y="4146804"/>
            <a:ext cx="5067605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令行禁止 · 吃苦耐劳 · 担当奉献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0606" y="5565953"/>
            <a:ext cx="37654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军人作风、军营礼仪、航空职业素养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融入课程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0606" y="5958230"/>
            <a:ext cx="5750662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不只是教孩子操控摇杆、学习航空理论,更重在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锤炼意志品质,厚植责任意识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02314" y="6569964"/>
            <a:ext cx="595274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05 / 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88620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2923" y="437998"/>
            <a:ext cx="120792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项目核心理念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972446" y="464515"/>
            <a:ext cx="1826057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Core Philosophy Ⅱ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双向赋能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政策领航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72998" y="1492301"/>
            <a:ext cx="1584655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第二 · 双向赋能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257654" y="1546250"/>
            <a:ext cx="1632204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Mutual Empowerment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19302" y="2038198"/>
            <a:ext cx="5067605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赋能退役军人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90295" y="2318004"/>
            <a:ext cx="325526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开展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标准化师资培训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,考取中国航协教练员证书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90295" y="2679192"/>
            <a:ext cx="2992831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持证上岗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,完成角色转型,实现稳定就业创业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70294" y="2038198"/>
            <a:ext cx="5067605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赋能青少年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42202" y="2318004"/>
            <a:ext cx="371246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以退役军人为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核心师资队伍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,开展沉浸式航空国防教育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42202" y="2679192"/>
            <a:ext cx="30604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航空报国、强军强国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的种子植入少年心中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33602" y="3617366"/>
            <a:ext cx="1489558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第三 · 政策领航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9302" y="3892601"/>
            <a:ext cx="1603858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Policy Aligned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045866" y="3465576"/>
            <a:ext cx="4438498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深度配合学校落实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"双减"、体教融合、中小学国防教育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相关要求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45866" y="3839566"/>
            <a:ext cx="45848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校内社团、科普讲座、开班仪式、赛事集训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等多种形式落地校园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00486" y="6569964"/>
            <a:ext cx="598018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06 / 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2278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6581" y="437998"/>
            <a:ext cx="1555394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项目主要实施举措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74098" y="464515"/>
            <a:ext cx="2323490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Key Measures · Overview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落地实施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四大举措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19302" y="1756562"/>
            <a:ext cx="620878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altLang="en-US" sz="42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1452982" y="1759306"/>
            <a:ext cx="199430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退役军人师资培训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52982" y="2000707"/>
            <a:ext cx="19943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搭建退役军人就业创业平台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52006" y="1756562"/>
            <a:ext cx="706831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altLang="en-US" sz="42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7170725" y="1759306"/>
            <a:ext cx="237652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"军旅+航空"特色课程体系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70725" y="2000707"/>
            <a:ext cx="237652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 · 实操 · 素养三大板块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9302" y="4235501"/>
            <a:ext cx="71597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altLang="en-US" sz="42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1547165" y="4238244"/>
            <a:ext cx="1841602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项目进校园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47165" y="4479646"/>
            <a:ext cx="18416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常态化开展多元教学活动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52006" y="4235501"/>
            <a:ext cx="73152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altLang="en-US" sz="4200" dirty="0">
                <a:solidFill>
                  <a:srgbClr val="E2B15C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04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7195414" y="4238244"/>
            <a:ext cx="130850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规范课堂管理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95414" y="4479646"/>
            <a:ext cx="13085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传承优良作风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12373" y="6569964"/>
            <a:ext cx="585216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07 / 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2278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6581" y="437998"/>
            <a:ext cx="686714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举措一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718804" y="464515"/>
            <a:ext cx="3079699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Measure 01 · Instructor Training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退役军人师资培训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持证上岗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55294" y="1695298"/>
            <a:ext cx="2603297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zh-CN" altLang="en-US" sz="1100" spc="2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STEP 1 · 选拔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5294" y="1911096"/>
            <a:ext cx="2603297" cy="23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优先选拔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5294" y="2146097"/>
            <a:ext cx="26032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作风优良、热爱航空事业的退役军人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37406" y="1695298"/>
            <a:ext cx="2671877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zh-CN" altLang="en-US" sz="1100" spc="2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STEP 2 · 全套培训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37406" y="1911096"/>
            <a:ext cx="2671877" cy="23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系统开展四大培训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937406" y="2146097"/>
            <a:ext cx="267187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航空理论 · 模拟飞行教学方法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37406" y="2456993"/>
            <a:ext cx="267187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中小学生课堂授课 · 青少年心理引导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88098" y="1695298"/>
            <a:ext cx="2451506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zh-CN" altLang="en-US" sz="1100" spc="2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STEP 3 · 考核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188098" y="1911096"/>
            <a:ext cx="2451506" cy="23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通过考核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188098" y="2146097"/>
            <a:ext cx="24515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取得中国航协模拟飞行教练员证书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17506" y="1695298"/>
            <a:ext cx="1384402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zh-CN" altLang="en-US" sz="1100" spc="220" kern="0" dirty="0">
                <a:solidFill>
                  <a:srgbClr val="E2B15C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STEP 4 · 上岗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17506" y="1911096"/>
            <a:ext cx="1384402" cy="23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持证上岗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217506" y="2146097"/>
            <a:ext cx="13844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担任校园航空教官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5898" y="3306470"/>
            <a:ext cx="25658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把部队养成的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严谨作风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带入课堂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45606" y="3306470"/>
            <a:ext cx="23938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分享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军营故事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、普及国防知识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15898" y="3724351"/>
            <a:ext cx="27367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以自身形象为青少年树立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鲜活榜样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45606" y="3724351"/>
            <a:ext cx="23938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打造规范化的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就业创业新路径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98657" y="6569964"/>
            <a:ext cx="599846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08 / 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2278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6581" y="437998"/>
            <a:ext cx="686714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举措二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68612" y="464515"/>
            <a:ext cx="2328977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Measure 02 · Curriculum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"军旅+航空"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特色课程体系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06501" y="1765706"/>
            <a:ext cx="3234233" cy="41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Ⅰ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06501" y="2229307"/>
            <a:ext cx="3234233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zh-CN" altLang="en-US" sz="15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航空国防理论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7494" y="2540203"/>
            <a:ext cx="12316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讲解航空发展史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7494" y="2901391"/>
            <a:ext cx="18416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讲述冯如等航空先驱事迹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77494" y="3262579"/>
            <a:ext cx="10799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空军发展历程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77494" y="3623767"/>
            <a:ext cx="13844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普及基础国防常识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61027" y="1765706"/>
            <a:ext cx="3234233" cy="41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Ⅱ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61027" y="2229307"/>
            <a:ext cx="3234233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zh-CN" altLang="en-US" sz="15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模拟飞行实操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732934" y="2540203"/>
            <a:ext cx="18416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学习飞行操控、航图识读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32934" y="2901391"/>
            <a:ext cx="10799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气象基础知识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32934" y="3262579"/>
            <a:ext cx="19943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锻炼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专注力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临场应变能力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16468" y="1765706"/>
            <a:ext cx="3234233" cy="41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E2B15C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Ⅲ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316468" y="2229307"/>
            <a:ext cx="3234233" cy="260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zh-CN" altLang="en-US" sz="15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军旅素养培育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487461" y="2540203"/>
            <a:ext cx="24515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开班仪式、学员宣誓、授肩章仪式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87461" y="2901391"/>
            <a:ext cx="12316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老带新互助机制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87461" y="3262579"/>
            <a:ext cx="21460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培养学员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纪律意识、团队精神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" y="5902452"/>
            <a:ext cx="83576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20" kern="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真实落地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51660" y="5830214"/>
            <a:ext cx="678667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昆山市实验小学、星海小学、新城花园小学的雏鹰社团课堂 — 开班授章、学员宣誓、老生帮扶新生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00486" y="6569964"/>
            <a:ext cx="598018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09 / 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2278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6581" y="437998"/>
            <a:ext cx="1492301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举措三 · 举措四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11082" y="464515"/>
            <a:ext cx="2687422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Measure 03 &amp; 04 · On Campus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进校园常态化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规范课堂管理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58698" y="1521562"/>
            <a:ext cx="505663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altLang="en-US" sz="26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75665" y="1561795"/>
            <a:ext cx="2727655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项目进校园 · 常态化多元教学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0606" y="2254910"/>
            <a:ext cx="22988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已和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苏州多所公办小学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建立合作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0606" y="2940710"/>
            <a:ext cx="325526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校内开设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起飞雏鹰科技社团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,每周开展固定课程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0606" y="3626510"/>
            <a:ext cx="22988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入校举办航空国防科普专题讲座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0606" y="4312310"/>
            <a:ext cx="27560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组织学员参加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全国青少年模拟飞行竞赛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0606" y="4997196"/>
            <a:ext cx="3755441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推行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老带新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模式,高年级帮扶低年级,搭建学员骨干梯队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0606" y="5682996"/>
            <a:ext cx="310347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教学全程由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退役军人教官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带队,融入日常课堂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35294" y="1521562"/>
            <a:ext cx="515722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altLang="en-US" sz="2600" dirty="0">
                <a:solidFill>
                  <a:srgbClr val="E2B15C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662318" y="1561795"/>
            <a:ext cx="2727655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规范课堂管理 · 传承优良作风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7201" y="2529230"/>
            <a:ext cx="3298241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借鉴部队管理理念,制定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学员守则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,强化仪式教育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7201" y="3489350"/>
            <a:ext cx="371246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开班宣誓、评优表彰、授肩章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等仪式,增强学员使命感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7201" y="4449470"/>
            <a:ext cx="401787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训练中要求严谨细致,树立如同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真实飞行员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一般的责任意识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7201" y="5408676"/>
            <a:ext cx="356067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在保护孩子探索兴趣的同时,潜移默化塑造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优良品格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23346" y="6569964"/>
            <a:ext cx="575158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10 / 15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7764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52067" y="437998"/>
            <a:ext cx="120792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项目实践成果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38537" y="464515"/>
            <a:ext cx="1559966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Achievements 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校园落地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学员成长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19302" y="1708099"/>
            <a:ext cx="3281782" cy="43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zh-CN" altLang="en-US" sz="290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苏州 多所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819302" y="2126894"/>
            <a:ext cx="328178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公办小学落地 — 昆山市实验小学、星海小学等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46981" y="1708099"/>
            <a:ext cx="3407969" cy="43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zh-CN" altLang="en-US" sz="290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数百名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4646981" y="2126894"/>
            <a:ext cx="3407969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累计服务中小学生,稳定、常态化的校内社团课程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00846" y="1708099"/>
            <a:ext cx="3517697" cy="43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zh-CN" altLang="en-US" sz="2900" dirty="0">
                <a:solidFill>
                  <a:srgbClr val="E2B15C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多项荣誉</a:t>
            </a:r>
            <a:endParaRPr lang="en-US" sz="2900" dirty="0"/>
          </a:p>
        </p:txBody>
      </p:sp>
      <p:sp>
        <p:nvSpPr>
          <p:cNvPr id="11" name="Text 9"/>
          <p:cNvSpPr txBox="1"/>
          <p:nvPr/>
        </p:nvSpPr>
        <p:spPr>
          <a:xfrm>
            <a:off x="8600846" y="2126894"/>
            <a:ext cx="35176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学员参与中国航协主办的全国青少年模拟飞行赛事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4906" y="3028493"/>
            <a:ext cx="10668305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学员培养层面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15898" y="3332988"/>
            <a:ext cx="3299155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从零开始学习模拟飞行,掌握扎实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航空知识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15898" y="3738067"/>
            <a:ext cx="3251606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自律性、专注力、团队协作能力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显著提升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15898" y="4142232"/>
            <a:ext cx="2736799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涌现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郁承玥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等品学兼优的学员榜样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15898" y="4547311"/>
            <a:ext cx="3813048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很多孩子确立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航空报国理想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,实现德智体全面发展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69964"/>
            <a:ext cx="551383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11 / 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7764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52067" y="437998"/>
            <a:ext cx="120792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项目实践成果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38537" y="464515"/>
            <a:ext cx="1559966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Achievements Ⅱ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老兵转型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校社协同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946404" y="1733702"/>
            <a:ext cx="1688897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退役军人就业层面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80406" y="1786738"/>
            <a:ext cx="793699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Veterans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03097" y="2038198"/>
            <a:ext cx="3407969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多名退役军人通过航协教练员培训,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顺利持证上岗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3097" y="2412187"/>
            <a:ext cx="401787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加入起飞航空教官团队,完成从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军人到航空科普教官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的转型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3097" y="2786177"/>
            <a:ext cx="234086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获得稳定就业,找到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全新价值舞台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3097" y="3160166"/>
            <a:ext cx="3865169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把部队优良作风带进校园课堂,得到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学校、家长一致认可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97396" y="1733702"/>
            <a:ext cx="130850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15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校社合作层面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969703" y="1786738"/>
            <a:ext cx="1555394" cy="16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altLang="en-US" sz="800" spc="208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School Partnership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655003" y="2038198"/>
            <a:ext cx="27560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课程丰富学校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课后服务、科技社团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55003" y="2412187"/>
            <a:ext cx="325526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充实校园国防教育载体,落实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体教融合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相关要求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55003" y="2786177"/>
            <a:ext cx="26032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校社协同、军地共育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的特色案例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55003" y="3160166"/>
            <a:ext cx="3450031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家长反馈:孩子学会坚持、增强自信,树立远大理想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27918" y="6569964"/>
            <a:ext cx="570586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12 / 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0449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4752" y="437998"/>
            <a:ext cx="1207922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项目社会效益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5074" y="464515"/>
            <a:ext cx="1373429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Social Impact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双向社会效益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多方共赢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19302" y="1774850"/>
            <a:ext cx="320863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500" dirty="0">
                <a:solidFill>
                  <a:srgbClr val="E2B15C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01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819302" y="2216506"/>
            <a:ext cx="320863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zh-CN" altLang="en-US" sz="16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对退役军人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90295" y="2546604"/>
            <a:ext cx="264627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拓宽就业赛道,让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忠诚可靠、作风过硬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90295" y="2920594"/>
            <a:ext cx="12316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的特质充分发挥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90295" y="3293669"/>
            <a:ext cx="1384402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人生二次价值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90295" y="3667658"/>
            <a:ext cx="16888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落实国家支持退役军人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90295" y="4041648"/>
            <a:ext cx="15371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就业创业的政策要求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3829" y="1774850"/>
            <a:ext cx="320863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5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02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4573829" y="2216506"/>
            <a:ext cx="320863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zh-CN" altLang="en-US" sz="16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对青少年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2546604"/>
            <a:ext cx="29087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国防教育从书本延伸至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模拟飞行实操课堂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2920594"/>
            <a:ext cx="2340864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厚植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爱国情怀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,树立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航空报国理想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3293669"/>
            <a:ext cx="24515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锻炼专注力、动手能力与抗压能力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3667658"/>
            <a:ext cx="15371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助力青少年全面成长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29270" y="1774850"/>
            <a:ext cx="320863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50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03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329270" y="2216506"/>
            <a:ext cx="320863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zh-CN" altLang="en-US" sz="16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对学校与社会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00262" y="2546604"/>
            <a:ext cx="26032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丰富中小学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课后延时服务、科技教育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00262" y="2920594"/>
            <a:ext cx="10799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国防教育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载体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0262" y="3293669"/>
            <a:ext cx="19943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助力全民国防教育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走深走实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00262" y="3667658"/>
            <a:ext cx="21460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军地融合育人</a:t>
            </a:r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的创新样板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26089" y="6569964"/>
            <a:ext cx="572414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13 / 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698" y="436169"/>
            <a:ext cx="394106" cy="25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altLang="en-US" sz="1500" spc="120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48410" y="437998"/>
            <a:ext cx="860450" cy="21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1200" spc="168" kern="0" dirty="0">
                <a:solidFill>
                  <a:srgbClr val="A7BCD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未来规划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54996" y="464515"/>
            <a:ext cx="1542593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285" kern="0" dirty="0">
                <a:solidFill>
                  <a:srgbClr val="5D7492"/>
                </a:solidFill>
                <a:latin typeface="Rajdhani Medium" pitchFamily="34" charset="0"/>
                <a:ea typeface="Rajdhani Medium" pitchFamily="34" charset="-122"/>
                <a:cs typeface="Rajdhani Medium" pitchFamily="34" charset="-120"/>
              </a:rPr>
              <a:t>Future Roadmap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8698" y="761695"/>
            <a:ext cx="11239805" cy="40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持续深耕 · </a:t>
            </a:r>
            <a:pPr algn="l" indent="0" marL="0">
              <a:lnSpc>
                <a:spcPts val="2700"/>
              </a:lnSpc>
              <a:buNone/>
            </a:pPr>
            <a:r>
              <a:rPr lang="zh-CN" altLang="en-US" sz="2700" spc="27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迭代拓展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708099"/>
            <a:ext cx="2451506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altLang="en-US" sz="1100" spc="198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NEXT 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23898"/>
            <a:ext cx="2451506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壮大教官队伍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65299"/>
            <a:ext cx="245150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持续扩大退役军人教练员培训规模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38398" y="1708099"/>
            <a:ext cx="1796796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altLang="en-US" sz="1100" spc="198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NEXT 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38398" y="1923898"/>
            <a:ext cx="1796796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迭代课程体系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38398" y="2165299"/>
            <a:ext cx="179679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迭代优化课程体系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4903" y="1708099"/>
            <a:ext cx="1796796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altLang="en-US" sz="1100" spc="198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NEXT 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54903" y="1923898"/>
            <a:ext cx="1796796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拓展校园合作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4903" y="2165299"/>
            <a:ext cx="1796796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拓展更多校园合作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70494" y="1708099"/>
            <a:ext cx="3517697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altLang="en-US" sz="1100" spc="198" kern="0" dirty="0">
                <a:solidFill>
                  <a:srgbClr val="5BC8FF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NEXT 04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70494" y="1923898"/>
            <a:ext cx="3517697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持续赛事活动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70494" y="2165299"/>
            <a:ext cx="3517697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zh-CN" altLang="en-US" sz="120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持续开展航空科普、社团教学、模拟飞行赛事活动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4906" y="5665622"/>
            <a:ext cx="87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1300" spc="104" kern="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长期愿景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021738" y="5406847"/>
            <a:ext cx="6556248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坚持军旅文化与飞行文化深度融合,打造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F2F7FD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可复制、可推广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的军地协同航空国防教育项目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021738" y="5760720"/>
            <a:ext cx="6556248" cy="341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培育更多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8FDB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心怀蓝天、航空报国</a:t>
            </a:r>
            <a:pPr algn="l" indent="0" marL="0">
              <a:lnSpc>
                <a:spcPts val="2190"/>
              </a:lnSpc>
              <a:buNone/>
            </a:pPr>
            <a:r>
              <a:rPr lang="zh-CN" altLang="en-US" sz="135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的新时代青少年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58698" y="6562649"/>
            <a:ext cx="2754173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 · 青少年航空国防科技教育项目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22431" y="6569964"/>
            <a:ext cx="576072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14 / 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95751" y="2253996"/>
            <a:ext cx="5365699" cy="2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CN" altLang="en-US" sz="1400" spc="560" kern="0" dirty="0">
                <a:solidFill>
                  <a:srgbClr val="5BC8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江苏起飞航空 · 青少年航空国防科技教育项目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2530145" y="2784348"/>
            <a:ext cx="7297826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zh-CN" altLang="en-US" sz="5200" spc="416" kern="0" dirty="0">
                <a:solidFill>
                  <a:srgbClr val="F2F7FD"/>
                </a:solidFill>
                <a:latin typeface="Noto Sans SC Light" pitchFamily="34" charset="0"/>
                <a:ea typeface="Noto Sans SC Light" pitchFamily="34" charset="-122"/>
                <a:cs typeface="Noto Sans SC Light" pitchFamily="34" charset="-120"/>
              </a:rPr>
              <a:t>恳请各位领导多多指导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333695" y="3600907"/>
            <a:ext cx="1688897" cy="31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zh-CN" altLang="en-US" sz="2000" spc="1000" kern="0" dirty="0">
                <a:solidFill>
                  <a:srgbClr val="A7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谢谢大家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37914" y="4261104"/>
            <a:ext cx="36813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zh-CN" altLang="en-US" sz="1300" spc="130" kern="0" dirty="0">
                <a:solidFill>
                  <a:srgbClr val="F0CC8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将继续紧跟国家政策,深耕校园航空国防教育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58698" y="6562649"/>
            <a:ext cx="919886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zh-CN" altLang="en-US" sz="900" spc="90" kern="0" dirty="0">
                <a:solidFill>
                  <a:srgbClr val="7C9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江苏起飞航空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27003" y="6569964"/>
            <a:ext cx="571500" cy="18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altLang="en-US" sz="950" spc="114" kern="0" dirty="0">
                <a:solidFill>
                  <a:srgbClr val="7C93AE"/>
                </a:solidFill>
                <a:latin typeface="Rajdhani SemiBold" pitchFamily="34" charset="0"/>
                <a:ea typeface="Rajdhani SemiBold" pitchFamily="34" charset="-122"/>
                <a:cs typeface="Rajdhani SemiBold" pitchFamily="34" charset="-120"/>
              </a:rPr>
              <a:t>15 / 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江苏起飞航空——青少年航空国防科技教育项目</dc:title>
  <dc:subject>PptxGenJS Presentation</dc:subject>
  <dc:creator>江苏起飞航空</dc:creator>
  <cp:lastModifiedBy>江苏起飞航空</cp:lastModifiedBy>
  <cp:revision>1</cp:revision>
  <dcterms:created xsi:type="dcterms:W3CDTF">2026-09-28T07:52:56Z</dcterms:created>
  <dcterms:modified xsi:type="dcterms:W3CDTF">2026-09-28T07:52:56Z</dcterms:modified>
</cp:coreProperties>
</file>