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11480"/>
            <a:ext cx="2229307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FFFFFF">
                    <a:alpha val="62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江苏起飞航空 · 青少年航空国防科技教育项目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10033711" y="411480"/>
            <a:ext cx="1751990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FFFFFF">
                    <a:alpha val="62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QF-AVIATION · 12–13 MIN · 01 / 14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49478"/>
            <a:ext cx="2830068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154" kern="0" dirty="0">
                <a:solidFill>
                  <a:srgbClr val="FFFFFF">
                    <a:alpha val="78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YOUTH AVIATION &amp; NATIONAL DEFENSE EDUCATION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2517343"/>
            <a:ext cx="5001768" cy="109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0"/>
              </a:lnSpc>
              <a:buNone/>
            </a:pPr>
            <a:r>
              <a:rPr lang="zh-CN" altLang="en-US" sz="5510" spc="-110" kern="0" dirty="0">
                <a:solidFill>
                  <a:srgbClr val="FFFFFF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青少年航空</a:t>
            </a:r>
            <a:pPr algn="l" indent="0" marL="0">
              <a:lnSpc>
                <a:spcPts val="8000"/>
              </a:lnSpc>
              <a:buNone/>
            </a:pPr>
            <a:r>
              <a:rPr lang="zh-CN" altLang="en-US" sz="5510" spc="-110" kern="0" dirty="0">
                <a:solidFill>
                  <a:srgbClr val="FFFFFF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国防</a:t>
            </a:r>
            <a:endParaRPr lang="en-US" sz="551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3230575"/>
            <a:ext cx="4315968" cy="109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0"/>
              </a:lnSpc>
              <a:buNone/>
            </a:pPr>
            <a:r>
              <a:rPr lang="zh-CN" altLang="en-US" sz="5510" spc="-110" kern="0" dirty="0">
                <a:solidFill>
                  <a:srgbClr val="FFFFFF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科技教育项目</a:t>
            </a:r>
            <a:endParaRPr lang="en-US" sz="551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5763463"/>
            <a:ext cx="6009437" cy="355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zh-CN" altLang="en-US" sz="1490" dirty="0">
                <a:solidFill>
                  <a:srgbClr val="FFFFFF">
                    <a:alpha val="86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模拟飞行教学 · 航空科普进校园 · 中国航协模拟飞行教练员师资培训 · 退役军人持证上岗</a:t>
            </a:r>
            <a:endParaRPr lang="en-US" sz="149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6027725"/>
            <a:ext cx="1936699" cy="355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zh-CN" altLang="en-US" sz="1490" dirty="0">
                <a:solidFill>
                  <a:srgbClr val="FFFFFF">
                    <a:alpha val="86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模拟飞行教学 · 航空科普进校园 · 中国航协模拟飞行教练员师资培训 · 退役军人持证上岗</a:t>
            </a:r>
            <a:endParaRPr lang="en-US" sz="149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6454750"/>
            <a:ext cx="1317650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FFFFFF">
                    <a:alpha val="60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汇报单位 · 江苏起飞航空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10468051" y="6454750"/>
            <a:ext cx="1317650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FFFFFF">
                    <a:alpha val="60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老兵当教官 · 蓝天为课堂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11480"/>
            <a:ext cx="1177747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汇报目录 · CONTENTS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11249863" y="411480"/>
            <a:ext cx="535838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02 / 14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15645"/>
            <a:ext cx="2580437" cy="1050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7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INDEX · 六个方面</a:t>
            </a:r>
            <a:pPr algn="l" indent="0" marL="0">
              <a:lnSpc>
                <a:spcPts val="7670"/>
              </a:lnSpc>
              <a:buNone/>
            </a:pPr>
            <a:r>
              <a:rPr lang="zh-CN" altLang="en-US" sz="4800" spc="-120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展开汇报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945843"/>
            <a:ext cx="744322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altLang="en-US" sz="4030" dirty="0">
                <a:solidFill>
                  <a:srgbClr val="002FA7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01</a:t>
            </a:r>
            <a:endParaRPr lang="en-US" sz="4030" dirty="0"/>
          </a:p>
        </p:txBody>
      </p:sp>
      <p:sp>
        <p:nvSpPr>
          <p:cNvPr id="6" name="Text 4"/>
          <p:cNvSpPr txBox="1"/>
          <p:nvPr/>
        </p:nvSpPr>
        <p:spPr>
          <a:xfrm>
            <a:off x="1516075" y="2154326"/>
            <a:ext cx="1120140" cy="41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zh-CN" altLang="en-US" sz="182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项目背景</a:t>
            </a:r>
            <a:endParaRPr lang="en-US" sz="1820" dirty="0"/>
          </a:p>
        </p:txBody>
      </p:sp>
      <p:sp>
        <p:nvSpPr>
          <p:cNvPr id="7" name="Text 5"/>
          <p:cNvSpPr txBox="1"/>
          <p:nvPr/>
        </p:nvSpPr>
        <p:spPr>
          <a:xfrm>
            <a:off x="10970057" y="2297887"/>
            <a:ext cx="815645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BACKGROUND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2721254"/>
            <a:ext cx="744322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altLang="en-US" sz="403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02</a:t>
            </a:r>
            <a:endParaRPr lang="en-US" sz="4030" dirty="0"/>
          </a:p>
        </p:txBody>
      </p:sp>
      <p:sp>
        <p:nvSpPr>
          <p:cNvPr id="9" name="Text 7"/>
          <p:cNvSpPr txBox="1"/>
          <p:nvPr/>
        </p:nvSpPr>
        <p:spPr>
          <a:xfrm>
            <a:off x="1516075" y="2928823"/>
            <a:ext cx="1120140" cy="41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zh-CN" altLang="en-US" sz="182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项目理念</a:t>
            </a:r>
            <a:endParaRPr lang="en-US" sz="1820" dirty="0"/>
          </a:p>
        </p:txBody>
      </p:sp>
      <p:sp>
        <p:nvSpPr>
          <p:cNvPr id="10" name="Text 8"/>
          <p:cNvSpPr txBox="1"/>
          <p:nvPr/>
        </p:nvSpPr>
        <p:spPr>
          <a:xfrm>
            <a:off x="11009376" y="3072384"/>
            <a:ext cx="776326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PHILOSOPHY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3495751"/>
            <a:ext cx="744322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altLang="en-US" sz="403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03</a:t>
            </a:r>
            <a:endParaRPr lang="en-US" sz="4030" dirty="0"/>
          </a:p>
        </p:txBody>
      </p:sp>
      <p:sp>
        <p:nvSpPr>
          <p:cNvPr id="12" name="Text 10"/>
          <p:cNvSpPr txBox="1"/>
          <p:nvPr/>
        </p:nvSpPr>
        <p:spPr>
          <a:xfrm>
            <a:off x="1516075" y="3704234"/>
            <a:ext cx="1120140" cy="41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zh-CN" altLang="en-US" sz="182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实施举措</a:t>
            </a:r>
            <a:endParaRPr lang="en-US" sz="1820" dirty="0"/>
          </a:p>
        </p:txBody>
      </p:sp>
      <p:sp>
        <p:nvSpPr>
          <p:cNvPr id="13" name="Text 11"/>
          <p:cNvSpPr txBox="1"/>
          <p:nvPr/>
        </p:nvSpPr>
        <p:spPr>
          <a:xfrm>
            <a:off x="11090758" y="3847795"/>
            <a:ext cx="694944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MEASURES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4271162"/>
            <a:ext cx="744322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altLang="en-US" sz="403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04</a:t>
            </a:r>
            <a:endParaRPr lang="en-US" sz="4030" dirty="0"/>
          </a:p>
        </p:txBody>
      </p:sp>
      <p:sp>
        <p:nvSpPr>
          <p:cNvPr id="15" name="Text 13"/>
          <p:cNvSpPr txBox="1"/>
          <p:nvPr/>
        </p:nvSpPr>
        <p:spPr>
          <a:xfrm>
            <a:off x="1516075" y="4478731"/>
            <a:ext cx="1120140" cy="41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zh-CN" altLang="en-US" sz="182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实践成果</a:t>
            </a:r>
            <a:endParaRPr lang="en-US" sz="1820" dirty="0"/>
          </a:p>
        </p:txBody>
      </p:sp>
      <p:sp>
        <p:nvSpPr>
          <p:cNvPr id="16" name="Text 14"/>
          <p:cNvSpPr txBox="1"/>
          <p:nvPr/>
        </p:nvSpPr>
        <p:spPr>
          <a:xfrm>
            <a:off x="10889590" y="4622292"/>
            <a:ext cx="896112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ACHIEVEMENTS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609905" y="5045659"/>
            <a:ext cx="744322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altLang="en-US" sz="403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05</a:t>
            </a:r>
            <a:endParaRPr lang="en-US" sz="4030" dirty="0"/>
          </a:p>
        </p:txBody>
      </p:sp>
      <p:sp>
        <p:nvSpPr>
          <p:cNvPr id="18" name="Text 16"/>
          <p:cNvSpPr txBox="1"/>
          <p:nvPr/>
        </p:nvSpPr>
        <p:spPr>
          <a:xfrm>
            <a:off x="1516075" y="5254142"/>
            <a:ext cx="1120140" cy="41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zh-CN" altLang="en-US" sz="182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社会效益</a:t>
            </a:r>
            <a:endParaRPr lang="en-US" sz="1820" dirty="0"/>
          </a:p>
        </p:txBody>
      </p:sp>
      <p:sp>
        <p:nvSpPr>
          <p:cNvPr id="19" name="Text 17"/>
          <p:cNvSpPr txBox="1"/>
          <p:nvPr/>
        </p:nvSpPr>
        <p:spPr>
          <a:xfrm>
            <a:off x="10876788" y="5397703"/>
            <a:ext cx="908914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SOCIAL IMPACT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609905" y="5821070"/>
            <a:ext cx="744322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altLang="en-US" sz="403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06</a:t>
            </a:r>
            <a:endParaRPr lang="en-US" sz="4030" dirty="0"/>
          </a:p>
        </p:txBody>
      </p:sp>
      <p:sp>
        <p:nvSpPr>
          <p:cNvPr id="21" name="Text 19"/>
          <p:cNvSpPr txBox="1"/>
          <p:nvPr/>
        </p:nvSpPr>
        <p:spPr>
          <a:xfrm>
            <a:off x="1516075" y="6028639"/>
            <a:ext cx="1120140" cy="41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zh-CN" altLang="en-US" sz="182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未来规划</a:t>
            </a:r>
            <a:endParaRPr lang="en-US" sz="1820" dirty="0"/>
          </a:p>
        </p:txBody>
      </p:sp>
      <p:sp>
        <p:nvSpPr>
          <p:cNvPr id="22" name="Text 20"/>
          <p:cNvSpPr txBox="1"/>
          <p:nvPr/>
        </p:nvSpPr>
        <p:spPr>
          <a:xfrm>
            <a:off x="11143793" y="6172200"/>
            <a:ext cx="641909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ROADMAP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11480"/>
            <a:ext cx="1896466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01 项目背景 · PROJECT BACKGROUND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11248034" y="411480"/>
            <a:ext cx="536753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03 / 14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15645"/>
            <a:ext cx="5790895" cy="1050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7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国防教育是国民教育体系的重要组成部分</a:t>
            </a:r>
            <a:pPr algn="l" indent="0" marL="0">
              <a:lnSpc>
                <a:spcPts val="7670"/>
              </a:lnSpc>
              <a:buNone/>
            </a:pPr>
            <a:r>
              <a:rPr lang="zh-CN" altLang="en-US" sz="4800" spc="-120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政策导向 × 宝贵特质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716890" y="2323490"/>
            <a:ext cx="88056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altLang="en-US" sz="690" spc="120" kern="0" dirty="0">
                <a:solidFill>
                  <a:srgbClr val="0A0A0A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01</a:t>
            </a:r>
            <a:pPr algn="l" indent="0" marL="0">
              <a:lnSpc>
                <a:spcPts val="980"/>
              </a:lnSpc>
              <a:buNone/>
            </a:pPr>
            <a:r>
              <a:rPr lang="zh-CN" altLang="en-US" sz="750" spc="120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 政策导向</a:t>
            </a:r>
            <a:endParaRPr lang="en-US" sz="690" dirty="0"/>
          </a:p>
        </p:txBody>
      </p:sp>
      <p:sp>
        <p:nvSpPr>
          <p:cNvPr id="6" name="Text 4"/>
          <p:cNvSpPr txBox="1"/>
          <p:nvPr/>
        </p:nvSpPr>
        <p:spPr>
          <a:xfrm>
            <a:off x="6621170" y="2323490"/>
            <a:ext cx="89428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altLang="en-US" sz="690" spc="120" kern="0" dirty="0">
                <a:solidFill>
                  <a:srgbClr val="002FA7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02</a:t>
            </a:r>
            <a:pPr algn="l" indent="0" marL="0">
              <a:lnSpc>
                <a:spcPts val="980"/>
              </a:lnSpc>
              <a:buNone/>
            </a:pPr>
            <a:r>
              <a:rPr lang="zh-CN" altLang="en-US" sz="750" spc="120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 宝贵特质</a:t>
            </a:r>
            <a:endParaRPr lang="en-US" sz="69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461565"/>
            <a:ext cx="4202582" cy="711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zh-CN" altLang="en-US" sz="3460" spc="-103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高度重视 · 大力推进</a:t>
            </a:r>
            <a:endParaRPr lang="en-US" sz="3460" dirty="0"/>
          </a:p>
        </p:txBody>
      </p:sp>
      <p:sp>
        <p:nvSpPr>
          <p:cNvPr id="8" name="Text 6"/>
          <p:cNvSpPr txBox="1"/>
          <p:nvPr/>
        </p:nvSpPr>
        <p:spPr>
          <a:xfrm>
            <a:off x="6562649" y="2461565"/>
            <a:ext cx="4202582" cy="711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zh-CN" altLang="en-US" sz="3460" spc="-103" kern="0" dirty="0">
                <a:solidFill>
                  <a:srgbClr val="002FA7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忠诚卫士 · 优质师资</a:t>
            </a:r>
            <a:endParaRPr lang="en-US" sz="346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111703"/>
            <a:ext cx="3787445" cy="260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zh-CN" altLang="en-US" sz="10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党和国家高度重视全民国防教育、中小学科技教育,大力推进退役军人就业创业工作。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62649" y="3111703"/>
            <a:ext cx="3660343" cy="260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zh-CN" altLang="en-US" sz="10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退役军人是党和军队精心培养的忠诚卫士,经过军营长期淬炼。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308299"/>
            <a:ext cx="1344168" cy="260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zh-CN" altLang="en-US" sz="10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党和国家高度重视全民国防教育、中小学科技教育,大力推进退役军人就业创业工作。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" y="5890565"/>
            <a:ext cx="2640787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出台多项政策,鼓励社会力量参与国防教育进校园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722669" y="5890565"/>
            <a:ext cx="1692554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政治立场坚定、纪律作风顽强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" y="6131052"/>
            <a:ext cx="1921154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支持退役军人投身社会化服务岗位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722669" y="6131052"/>
            <a:ext cx="2068373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执行力突出,自带家国情怀与责任担当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" y="6371539"/>
            <a:ext cx="1463040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为项目落地提供政策支撑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722669" y="6371539"/>
            <a:ext cx="2380183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正是青少年国防教育所急需的优质师资素养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411480"/>
            <a:ext cx="1325880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01 项目背景 · DIRECTION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20894" y="411480"/>
            <a:ext cx="539496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04 / 14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535217" y="411480"/>
            <a:ext cx="811073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发展方向确立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1135563" y="411480"/>
            <a:ext cx="821131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ESTABLISHED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38912" y="2302459"/>
            <a:ext cx="1317650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立足政策导向与现实需求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438912" y="2553919"/>
            <a:ext cx="4098341" cy="118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50"/>
              </a:lnSpc>
              <a:buNone/>
            </a:pPr>
            <a:r>
              <a:rPr lang="zh-CN" altLang="en-US" sz="6050" spc="-151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军旅文化 ×</a:t>
            </a:r>
            <a:endParaRPr lang="en-US" sz="6050" dirty="0"/>
          </a:p>
        </p:txBody>
      </p:sp>
      <p:sp>
        <p:nvSpPr>
          <p:cNvPr id="8" name="Text 6"/>
          <p:cNvSpPr txBox="1"/>
          <p:nvPr/>
        </p:nvSpPr>
        <p:spPr>
          <a:xfrm>
            <a:off x="6535217" y="2899562"/>
            <a:ext cx="612648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105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深耕方向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6535217" y="3036722"/>
            <a:ext cx="4328770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深耕青少年航空教育与模拟飞行项目,让航空知识、国防理念、实操训练融为一体。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38912" y="3336646"/>
            <a:ext cx="3198571" cy="118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50"/>
              </a:lnSpc>
              <a:buNone/>
            </a:pPr>
            <a:r>
              <a:rPr lang="zh-CN" altLang="en-US" sz="6050" spc="-151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飞行文化</a:t>
            </a:r>
            <a:endParaRPr lang="en-US" sz="6050" dirty="0"/>
          </a:p>
        </p:txBody>
      </p:sp>
      <p:sp>
        <p:nvSpPr>
          <p:cNvPr id="11" name="Text 9"/>
          <p:cNvSpPr txBox="1"/>
          <p:nvPr/>
        </p:nvSpPr>
        <p:spPr>
          <a:xfrm>
            <a:off x="6535217" y="3535985"/>
            <a:ext cx="816559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105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专项师资培训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6535217" y="3673145"/>
            <a:ext cx="4101084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面向退役军人开设中国航协模拟飞行教练员专项师资培训,考核通过持证上岗。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4120286"/>
            <a:ext cx="3198571" cy="118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50"/>
              </a:lnSpc>
              <a:buNone/>
            </a:pPr>
            <a:r>
              <a:rPr lang="zh-CN" altLang="en-US" sz="6050" spc="-151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深度融合</a:t>
            </a:r>
            <a:endParaRPr lang="en-US" sz="6050" dirty="0"/>
          </a:p>
        </p:txBody>
      </p:sp>
      <p:sp>
        <p:nvSpPr>
          <p:cNvPr id="14" name="Text 12"/>
          <p:cNvSpPr txBox="1"/>
          <p:nvPr/>
        </p:nvSpPr>
        <p:spPr>
          <a:xfrm>
            <a:off x="6535217" y="4171493"/>
            <a:ext cx="612648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105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全新赛道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6535217" y="4308653"/>
            <a:ext cx="5156302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为优秀退役军人开辟就业创业全新赛道,让老兵脱下军装后,在校园国防教育新岗位上继续发光发热。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" y="6454750"/>
            <a:ext cx="3140964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中小学生怀揣航空梦想 · 校园教育形式单一 · 缺少沉浸式实操体验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6535217" y="6454750"/>
            <a:ext cx="1115568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趣味性与教育性兼备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103827"/>
            <a:ext cx="1906524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FFFFFF">
                    <a:alpha val="62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02 项目核心理念 · CORE PHILOSOPHY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11249863" y="4103827"/>
            <a:ext cx="535838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FFFFFF">
                    <a:alpha val="62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05 / 14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4541825"/>
            <a:ext cx="1216152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FAFAF8">
                    <a:alpha val="60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核心思路 · 一句话概括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4775911"/>
            <a:ext cx="6665062" cy="990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zh-CN" altLang="en-US" sz="4970" spc="-99" kern="0" dirty="0">
                <a:solidFill>
                  <a:srgbClr val="FAFAF8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老兵当教官,蓝天为课堂,</a:t>
            </a:r>
            <a:endParaRPr lang="en-US" sz="497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5482742"/>
            <a:ext cx="6526073" cy="990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zh-CN" altLang="en-US" sz="4970" spc="-99" kern="0" dirty="0">
                <a:solidFill>
                  <a:srgbClr val="FAFAF8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航空为载体,</a:t>
            </a:r>
            <a:pPr algn="l" indent="0" marL="0">
              <a:lnSpc>
                <a:spcPts val="7200"/>
              </a:lnSpc>
              <a:buNone/>
            </a:pPr>
            <a:r>
              <a:rPr lang="zh-CN" altLang="en-US" sz="4970" spc="-99" kern="0" dirty="0">
                <a:solidFill>
                  <a:srgbClr val="5B7BFF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国防育少年</a:t>
            </a:r>
            <a:endParaRPr lang="en-US" sz="497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6454750"/>
            <a:ext cx="973836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FAFAF8">
                    <a:alpha val="50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— STATEMENT 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11480"/>
            <a:ext cx="1906524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02 项目核心理念 · CORE PHILOSOPHY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11248034" y="411480"/>
            <a:ext cx="537667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06 / 14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4498848" y="1450238"/>
            <a:ext cx="912571" cy="104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altLang="en-US" sz="5290" dirty="0">
                <a:solidFill>
                  <a:srgbClr val="002FA7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01</a:t>
            </a:r>
            <a:endParaRPr lang="en-US" sz="5290" dirty="0"/>
          </a:p>
        </p:txBody>
      </p:sp>
      <p:sp>
        <p:nvSpPr>
          <p:cNvPr id="5" name="Text 3"/>
          <p:cNvSpPr txBox="1"/>
          <p:nvPr/>
        </p:nvSpPr>
        <p:spPr>
          <a:xfrm>
            <a:off x="5452567" y="1487729"/>
            <a:ext cx="244053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zh-CN" altLang="en-US" sz="1540" dirty="0">
                <a:solidFill>
                  <a:srgbClr val="0A0A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双文化融合 · 军旅 + 飞行</a:t>
            </a:r>
            <a:endParaRPr lang="en-US" sz="1540" dirty="0"/>
          </a:p>
        </p:txBody>
      </p:sp>
      <p:sp>
        <p:nvSpPr>
          <p:cNvPr id="6" name="Text 4"/>
          <p:cNvSpPr txBox="1"/>
          <p:nvPr/>
        </p:nvSpPr>
        <p:spPr>
          <a:xfrm>
            <a:off x="5452567" y="1882750"/>
            <a:ext cx="59948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严谨规范、生命至上、责任为先 × 令行禁止、吃苦耐劳、担当奉献;将军人作风、军营礼仪、航空职业素养融入课程,重在锤炼意志品质、厚植责任意识。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452567" y="2040941"/>
            <a:ext cx="12188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严谨规范、生命至上、责任为先 × 令行禁止、吃苦耐劳、担当奉献;将军人作风、军营礼仪、航空职业素养融入课程,重在锤炼意志品质、厚植责任意识。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498848" y="3352190"/>
            <a:ext cx="912571" cy="104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altLang="en-US" sz="5290" dirty="0">
                <a:solidFill>
                  <a:srgbClr val="002FA7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02</a:t>
            </a:r>
            <a:endParaRPr lang="en-US" sz="5290" dirty="0"/>
          </a:p>
        </p:txBody>
      </p:sp>
      <p:sp>
        <p:nvSpPr>
          <p:cNvPr id="9" name="Text 7"/>
          <p:cNvSpPr txBox="1"/>
          <p:nvPr/>
        </p:nvSpPr>
        <p:spPr>
          <a:xfrm>
            <a:off x="5452567" y="3389681"/>
            <a:ext cx="204642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zh-CN" altLang="en-US" sz="1540" dirty="0">
                <a:solidFill>
                  <a:srgbClr val="0A0A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双向赋能 · 角色转型</a:t>
            </a:r>
            <a:endParaRPr lang="en-US" sz="1540" dirty="0"/>
          </a:p>
        </p:txBody>
      </p:sp>
      <p:sp>
        <p:nvSpPr>
          <p:cNvPr id="10" name="Text 8"/>
          <p:cNvSpPr txBox="1"/>
          <p:nvPr/>
        </p:nvSpPr>
        <p:spPr>
          <a:xfrm>
            <a:off x="5452567" y="3785616"/>
            <a:ext cx="59774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退役军人标准化师资培训、考取中国航协教练员证书、持证上岗,实现稳定就业创业;以退役军人为核心师资,面向青少年开展沉浸式航空国防教育。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53135" y="3817620"/>
            <a:ext cx="2402129" cy="980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120"/>
              </a:lnSpc>
              <a:buNone/>
            </a:pPr>
            <a:r>
              <a:rPr lang="zh-CN" altLang="en-US" sz="700" spc="105" kern="0" dirty="0">
                <a:solidFill>
                  <a:srgbClr val="FFFFFF">
                    <a:alpha val="78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三大支撑</a:t>
            </a:r>
            <a:pPr algn="l" indent="0" marL="0">
              <a:lnSpc>
                <a:spcPts val="7120"/>
              </a:lnSpc>
              <a:buNone/>
            </a:pPr>
            <a:r>
              <a:rPr lang="zh-CN" altLang="en-US" sz="4420" spc="-89" kern="0" dirty="0">
                <a:solidFill>
                  <a:srgbClr val="FAFAF8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核心理念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5452567" y="3942893"/>
            <a:ext cx="91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退役军人标准化师资培训、考取中国航协教练员证书、持证上岗,实现稳定就业创业;以退役军人为核心师资,面向青少年开展沉浸式航空国防教育。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5255057"/>
            <a:ext cx="912571" cy="104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altLang="en-US" sz="5290" dirty="0">
                <a:solidFill>
                  <a:srgbClr val="002FA7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03</a:t>
            </a:r>
            <a:endParaRPr lang="en-US" sz="5290" dirty="0"/>
          </a:p>
        </p:txBody>
      </p:sp>
      <p:sp>
        <p:nvSpPr>
          <p:cNvPr id="14" name="Text 12"/>
          <p:cNvSpPr txBox="1"/>
          <p:nvPr/>
        </p:nvSpPr>
        <p:spPr>
          <a:xfrm>
            <a:off x="5452567" y="5292547"/>
            <a:ext cx="204642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zh-CN" altLang="en-US" sz="1540" dirty="0">
                <a:solidFill>
                  <a:srgbClr val="0A0A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政策领航 · 落地校园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5452567" y="5687568"/>
            <a:ext cx="591616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深度配合学校落实"双减"、体教融合、中小学国防教育相关要求,以校内社团、科普讲座、开班仪式、赛事集训等多种形式落地校园。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853135" y="5812841"/>
            <a:ext cx="807415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FAFAF8">
                    <a:alpha val="60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— 双文化融合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5452567" y="5844845"/>
            <a:ext cx="4059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深度配合学校落实"双减"、体教融合、中小学国防教育相关要求,以校内社团、科普讲座、开班仪式、赛事集训等多种形式落地校园。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853135" y="6010351"/>
            <a:ext cx="705917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FAFAF8">
                    <a:alpha val="60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— 双向赋能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853135" y="6207862"/>
            <a:ext cx="705917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FAFAF8">
                    <a:alpha val="60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— 政策领航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11480"/>
            <a:ext cx="1964131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03 项目主要实施举措 · KEY MEASURES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11258093" y="411480"/>
            <a:ext cx="527609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07 / 14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171346"/>
            <a:ext cx="5790895" cy="1050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7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在落地实施层面,我们主要落实四大举措</a:t>
            </a:r>
            <a:pPr algn="l" indent="0" marL="0">
              <a:lnSpc>
                <a:spcPts val="7670"/>
              </a:lnSpc>
              <a:buNone/>
            </a:pPr>
            <a:r>
              <a:rPr lang="zh-CN" altLang="en-US" sz="4800" spc="-120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落地实施 · 四大举措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2487168"/>
            <a:ext cx="946404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— 01 / TRAINING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2487168"/>
            <a:ext cx="1121054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— 02 / CURRICULUM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6193231" y="2487168"/>
            <a:ext cx="1074420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— 03 / ON CAMPUS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8985809" y="2487168"/>
            <a:ext cx="1053389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— 04 / DISCIPLINE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2633472"/>
            <a:ext cx="103235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zh-CN" altLang="en-US" sz="163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退役军人</a:t>
            </a:r>
            <a:endParaRPr lang="en-US" sz="1630" dirty="0"/>
          </a:p>
        </p:txBody>
      </p:sp>
      <p:sp>
        <p:nvSpPr>
          <p:cNvPr id="10" name="Text 8"/>
          <p:cNvSpPr txBox="1"/>
          <p:nvPr/>
        </p:nvSpPr>
        <p:spPr>
          <a:xfrm>
            <a:off x="3401568" y="2633472"/>
            <a:ext cx="131582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zh-CN" altLang="en-US" sz="163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"军旅+航空"</a:t>
            </a:r>
            <a:endParaRPr lang="en-US" sz="1630" dirty="0"/>
          </a:p>
        </p:txBody>
      </p:sp>
      <p:sp>
        <p:nvSpPr>
          <p:cNvPr id="11" name="Text 9"/>
          <p:cNvSpPr txBox="1"/>
          <p:nvPr/>
        </p:nvSpPr>
        <p:spPr>
          <a:xfrm>
            <a:off x="6193231" y="2633472"/>
            <a:ext cx="123992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zh-CN" altLang="en-US" sz="163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项目进校园</a:t>
            </a:r>
            <a:endParaRPr lang="en-US" sz="1630" dirty="0"/>
          </a:p>
        </p:txBody>
      </p:sp>
      <p:sp>
        <p:nvSpPr>
          <p:cNvPr id="12" name="Text 10"/>
          <p:cNvSpPr txBox="1"/>
          <p:nvPr/>
        </p:nvSpPr>
        <p:spPr>
          <a:xfrm>
            <a:off x="8985809" y="2633472"/>
            <a:ext cx="1446581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zh-CN" altLang="en-US" sz="163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规范课堂管理</a:t>
            </a:r>
            <a:endParaRPr lang="en-US" sz="163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2892247"/>
            <a:ext cx="103235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zh-CN" altLang="en-US" sz="163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师资培训</a:t>
            </a:r>
            <a:endParaRPr lang="en-US" sz="1630" dirty="0"/>
          </a:p>
        </p:txBody>
      </p:sp>
      <p:sp>
        <p:nvSpPr>
          <p:cNvPr id="14" name="Text 12"/>
          <p:cNvSpPr txBox="1"/>
          <p:nvPr/>
        </p:nvSpPr>
        <p:spPr>
          <a:xfrm>
            <a:off x="3401568" y="2892247"/>
            <a:ext cx="103235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zh-CN" altLang="en-US" sz="163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课程体系</a:t>
            </a:r>
            <a:endParaRPr lang="en-US" sz="1630" dirty="0"/>
          </a:p>
        </p:txBody>
      </p:sp>
      <p:sp>
        <p:nvSpPr>
          <p:cNvPr id="15" name="Text 13"/>
          <p:cNvSpPr txBox="1"/>
          <p:nvPr/>
        </p:nvSpPr>
        <p:spPr>
          <a:xfrm>
            <a:off x="6193231" y="2892247"/>
            <a:ext cx="123992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zh-CN" altLang="en-US" sz="163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常态化教学</a:t>
            </a:r>
            <a:endParaRPr lang="en-US" sz="1630" dirty="0"/>
          </a:p>
        </p:txBody>
      </p:sp>
      <p:sp>
        <p:nvSpPr>
          <p:cNvPr id="16" name="Text 14"/>
          <p:cNvSpPr txBox="1"/>
          <p:nvPr/>
        </p:nvSpPr>
        <p:spPr>
          <a:xfrm>
            <a:off x="8985809" y="2892247"/>
            <a:ext cx="1446581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zh-CN" altLang="en-US" sz="163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传承优良作风</a:t>
            </a:r>
            <a:endParaRPr lang="en-US" sz="1630" dirty="0"/>
          </a:p>
        </p:txBody>
      </p:sp>
      <p:sp>
        <p:nvSpPr>
          <p:cNvPr id="17" name="Text 15"/>
          <p:cNvSpPr txBox="1"/>
          <p:nvPr/>
        </p:nvSpPr>
        <p:spPr>
          <a:xfrm>
            <a:off x="609905" y="3354934"/>
            <a:ext cx="27715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开展中国航协模拟飞行教练员师资培训,搭建退役军人就业创业平台。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3401568" y="3354934"/>
            <a:ext cx="23874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理论、实操、素养三大板块, 打造特色课程体系。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193231" y="3354934"/>
            <a:ext cx="25914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与苏州多所公办小学合作, 常态化开展多元教学活动。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985809" y="3354934"/>
            <a:ext cx="17785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借鉴部队管理理念, 强化仪式教育。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09905" y="3512210"/>
            <a:ext cx="7114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开展中国航协模拟飞行教练员师资培训,搭建退役军人就业创业平台。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11480"/>
            <a:ext cx="2451506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03 举措一 · MEASURE 01 · INSTRUCTOR TRAINING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11246206" y="411480"/>
            <a:ext cx="539496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08 / 14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15645"/>
            <a:ext cx="7456932" cy="1050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7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退役军人师资培训 · 搭建就业创业平台</a:t>
            </a:r>
            <a:pPr algn="l" indent="0" marL="0">
              <a:lnSpc>
                <a:spcPts val="7670"/>
              </a:lnSpc>
              <a:buNone/>
            </a:pPr>
            <a:r>
              <a:rPr lang="zh-CN" altLang="en-US" sz="4800" spc="-120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选拔 — 培训 — 考核 — 上岗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3403397" y="3761842"/>
            <a:ext cx="2796235" cy="260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altLang="en-US" sz="750" spc="3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02</a:t>
            </a:r>
            <a:pPr algn="l" indent="0" marL="0">
              <a:lnSpc>
                <a:spcPts val="1450"/>
              </a:lnSpc>
              <a:buNone/>
            </a:pPr>
            <a:r>
              <a:rPr lang="zh-CN" altLang="en-US" sz="101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全套培训</a:t>
            </a:r>
            <a:pPr algn="l" indent="0" marL="0">
              <a:lnSpc>
                <a:spcPts val="1450"/>
              </a:lnSpc>
              <a:buNone/>
            </a:pPr>
            <a:r>
              <a:rPr lang="zh-CN" altLang="en-US" sz="81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航空理论 · 教学方法 · 课堂授课 · 心理引导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65022" y="3838651"/>
            <a:ext cx="2486254" cy="260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altLang="en-US" sz="750" spc="3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01</a:t>
            </a:r>
            <a:pPr algn="l" indent="0" marL="0">
              <a:lnSpc>
                <a:spcPts val="1450"/>
              </a:lnSpc>
              <a:buNone/>
            </a:pPr>
            <a:r>
              <a:rPr lang="zh-CN" altLang="en-US" sz="101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优先选拔</a:t>
            </a:r>
            <a:pPr algn="l" indent="0" marL="0">
              <a:lnSpc>
                <a:spcPts val="1450"/>
              </a:lnSpc>
              <a:buNone/>
            </a:pPr>
            <a:r>
              <a:rPr lang="zh-CN" altLang="en-US" sz="81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作风优良 · 热爱航空事业的退役军人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622085" y="3838651"/>
            <a:ext cx="1944929" cy="260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altLang="en-US" sz="750" spc="3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03</a:t>
            </a:r>
            <a:pPr algn="l" indent="0" marL="0">
              <a:lnSpc>
                <a:spcPts val="1450"/>
              </a:lnSpc>
              <a:buNone/>
            </a:pPr>
            <a:r>
              <a:rPr lang="zh-CN" altLang="en-US" sz="101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通过考核</a:t>
            </a:r>
            <a:pPr algn="l" indent="0" marL="0">
              <a:lnSpc>
                <a:spcPts val="1450"/>
              </a:lnSpc>
              <a:buNone/>
            </a:pPr>
            <a:r>
              <a:rPr lang="zh-CN" altLang="en-US" sz="81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取得中国航协教练员证书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9517075" y="3838651"/>
            <a:ext cx="1640434" cy="260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altLang="en-US" sz="750" spc="38" kern="0" dirty="0">
                <a:solidFill>
                  <a:srgbClr val="002FA7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04</a:t>
            </a:r>
            <a:pPr algn="l" indent="0" marL="0">
              <a:lnSpc>
                <a:spcPts val="1450"/>
              </a:lnSpc>
              <a:buNone/>
            </a:pPr>
            <a:r>
              <a:rPr lang="zh-CN" altLang="en-US" sz="1010" dirty="0">
                <a:solidFill>
                  <a:srgbClr val="002FA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持证上岗</a:t>
            </a:r>
            <a:pPr algn="l" indent="0" marL="0">
              <a:lnSpc>
                <a:spcPts val="1450"/>
              </a:lnSpc>
              <a:buNone/>
            </a:pPr>
            <a:r>
              <a:rPr lang="zh-CN" altLang="en-US" sz="81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担任校园航空教官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3508553" y="3915461"/>
            <a:ext cx="331013" cy="260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zh-CN" altLang="en-US" sz="101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全套培训</a:t>
            </a:r>
            <a:endParaRPr lang="en-US" sz="1010" dirty="0"/>
          </a:p>
        </p:txBody>
      </p:sp>
      <p:sp>
        <p:nvSpPr>
          <p:cNvPr id="10" name="Text 8"/>
          <p:cNvSpPr txBox="1"/>
          <p:nvPr/>
        </p:nvSpPr>
        <p:spPr>
          <a:xfrm>
            <a:off x="4016959" y="3917290"/>
            <a:ext cx="3054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1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航空理论 · 教学方法 · 课堂授课 · 心理引导</a:t>
            </a:r>
            <a:endParaRPr lang="en-US" sz="810" dirty="0"/>
          </a:p>
        </p:txBody>
      </p:sp>
      <p:sp>
        <p:nvSpPr>
          <p:cNvPr id="11" name="Text 9"/>
          <p:cNvSpPr txBox="1"/>
          <p:nvPr/>
        </p:nvSpPr>
        <p:spPr>
          <a:xfrm>
            <a:off x="1472184" y="6221578"/>
            <a:ext cx="56729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把部队严谨作风带入课堂,分享军营故事、普及国防知识,以自身形象为青少年树立鲜活榜样,打造规范化的就业创业新路径。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902513" y="6275527"/>
            <a:ext cx="407822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105" kern="0" dirty="0">
                <a:solidFill>
                  <a:srgbClr val="002FA7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价值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11480"/>
            <a:ext cx="2026310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03 举措二 · MEASURE 02 · CURRICULUM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11248034" y="411480"/>
            <a:ext cx="537667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09 / 14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15645"/>
            <a:ext cx="6904634" cy="1050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7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三大板块 · 理论 — 实操 — 素养</a:t>
            </a:r>
            <a:pPr algn="l" indent="0" marL="0">
              <a:lnSpc>
                <a:spcPts val="7670"/>
              </a:lnSpc>
              <a:buNone/>
            </a:pPr>
            <a:r>
              <a:rPr lang="zh-CN" altLang="en-US" sz="4800" spc="-120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"军旅+航空"特色课程体系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9361" y="2382926"/>
            <a:ext cx="326441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altLang="en-US" sz="810" spc="145" kern="0" dirty="0">
                <a:solidFill>
                  <a:srgbClr val="0A0A0A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01</a:t>
            </a:r>
            <a:endParaRPr lang="en-US" sz="810" dirty="0"/>
          </a:p>
        </p:txBody>
      </p:sp>
      <p:sp>
        <p:nvSpPr>
          <p:cNvPr id="6" name="Text 4"/>
          <p:cNvSpPr txBox="1"/>
          <p:nvPr/>
        </p:nvSpPr>
        <p:spPr>
          <a:xfrm>
            <a:off x="4551883" y="2382926"/>
            <a:ext cx="342900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altLang="en-US" sz="810" spc="145" kern="0" dirty="0">
                <a:solidFill>
                  <a:srgbClr val="0A0A0A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02</a:t>
            </a:r>
            <a:endParaRPr lang="en-US" sz="810" dirty="0"/>
          </a:p>
        </p:txBody>
      </p:sp>
      <p:sp>
        <p:nvSpPr>
          <p:cNvPr id="7" name="Text 5"/>
          <p:cNvSpPr txBox="1"/>
          <p:nvPr/>
        </p:nvSpPr>
        <p:spPr>
          <a:xfrm>
            <a:off x="8274406" y="2382926"/>
            <a:ext cx="344729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altLang="en-US" sz="810" spc="145" kern="0" dirty="0">
                <a:solidFill>
                  <a:srgbClr val="FFFFFF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03</a:t>
            </a:r>
            <a:endParaRPr lang="en-US" sz="810" dirty="0"/>
          </a:p>
        </p:txBody>
      </p:sp>
      <p:sp>
        <p:nvSpPr>
          <p:cNvPr id="8" name="Text 6"/>
          <p:cNvSpPr txBox="1"/>
          <p:nvPr/>
        </p:nvSpPr>
        <p:spPr>
          <a:xfrm>
            <a:off x="829361" y="5118811"/>
            <a:ext cx="1636776" cy="43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zh-CN" altLang="en-US" sz="1920" spc="-39" kern="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航空国防理论</a:t>
            </a:r>
            <a:endParaRPr lang="en-US" sz="1920" dirty="0"/>
          </a:p>
        </p:txBody>
      </p:sp>
      <p:sp>
        <p:nvSpPr>
          <p:cNvPr id="9" name="Text 7"/>
          <p:cNvSpPr txBox="1"/>
          <p:nvPr/>
        </p:nvSpPr>
        <p:spPr>
          <a:xfrm>
            <a:off x="4551883" y="5118811"/>
            <a:ext cx="1636776" cy="43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zh-CN" altLang="en-US" sz="1920" spc="-39" kern="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模拟飞行实操</a:t>
            </a:r>
            <a:endParaRPr lang="en-US" sz="1920" dirty="0"/>
          </a:p>
        </p:txBody>
      </p:sp>
      <p:sp>
        <p:nvSpPr>
          <p:cNvPr id="10" name="Text 8"/>
          <p:cNvSpPr txBox="1"/>
          <p:nvPr/>
        </p:nvSpPr>
        <p:spPr>
          <a:xfrm>
            <a:off x="8274406" y="5118811"/>
            <a:ext cx="1636776" cy="43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zh-CN" altLang="en-US" sz="1920" spc="-39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军旅素养培育</a:t>
            </a:r>
            <a:endParaRPr lang="en-US" sz="1920" dirty="0"/>
          </a:p>
        </p:txBody>
      </p:sp>
      <p:sp>
        <p:nvSpPr>
          <p:cNvPr id="11" name="Text 9"/>
          <p:cNvSpPr txBox="1"/>
          <p:nvPr/>
        </p:nvSpPr>
        <p:spPr>
          <a:xfrm>
            <a:off x="829361" y="5527548"/>
            <a:ext cx="3245206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讲解航空发展史,讲述冯如等航空先驱事迹、空军发展历程,普及基础国防常识。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51883" y="5527548"/>
            <a:ext cx="3213202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学习飞行操控、航图识读、气象基础知识,锻炼专注力与临场应变能力。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74406" y="5527548"/>
            <a:ext cx="3213202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开班仪式、学员宣誓、授肩章仪式、老带新互助机制,培养纪律意识、团队精神。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9361" y="5704942"/>
            <a:ext cx="1120140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讲解航空发展史,讲述冯如等航空先驱事迹、空军发展历程,普及基础国防常识。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51883" y="5704942"/>
            <a:ext cx="776326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学习飞行操控、航图识读、气象基础知识,锻炼专注力与临场应变能力。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74406" y="5704942"/>
            <a:ext cx="1234440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开班仪式、学员宣誓、授肩章仪式、老带新互助机制,培养纪律意识、团队精神。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09905" y="6382512"/>
            <a:ext cx="49962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真实落地丨昆山市实验小学 · 星海小学 · 新城花园小学雏鹰社团课堂,开班授章、学员宣誓、老生帮扶新生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0850270" y="6454750"/>
            <a:ext cx="935431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FIELD PRACTICE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11480"/>
            <a:ext cx="1703527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03 举措三 · 举措四 · ON CAMPUS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11264494" y="411480"/>
            <a:ext cx="521208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10 / 14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15645"/>
            <a:ext cx="4602175" cy="1050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7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常态化多元教学 × 规范课堂管理</a:t>
            </a:r>
            <a:pPr algn="l" indent="0" marL="0">
              <a:lnSpc>
                <a:spcPts val="7670"/>
              </a:lnSpc>
              <a:buNone/>
            </a:pPr>
            <a:r>
              <a:rPr lang="zh-CN" altLang="en-US" sz="4800" spc="-120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进校园 · 稳落地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716890" y="2323490"/>
            <a:ext cx="100584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altLang="en-US" sz="690" spc="120" kern="0" dirty="0">
                <a:solidFill>
                  <a:srgbClr val="0A0A0A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03</a:t>
            </a:r>
            <a:pPr algn="l" indent="0" marL="0">
              <a:lnSpc>
                <a:spcPts val="980"/>
              </a:lnSpc>
              <a:buNone/>
            </a:pPr>
            <a:r>
              <a:rPr lang="zh-CN" altLang="en-US" sz="750" spc="120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 项目进校园</a:t>
            </a:r>
            <a:endParaRPr lang="en-US" sz="690" dirty="0"/>
          </a:p>
        </p:txBody>
      </p:sp>
      <p:sp>
        <p:nvSpPr>
          <p:cNvPr id="6" name="Text 4"/>
          <p:cNvSpPr txBox="1"/>
          <p:nvPr/>
        </p:nvSpPr>
        <p:spPr>
          <a:xfrm>
            <a:off x="6621170" y="2323490"/>
            <a:ext cx="111922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altLang="en-US" sz="690" spc="120" kern="0" dirty="0">
                <a:solidFill>
                  <a:srgbClr val="002FA7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04</a:t>
            </a:r>
            <a:pPr algn="l" indent="0" marL="0">
              <a:lnSpc>
                <a:spcPts val="980"/>
              </a:lnSpc>
              <a:buNone/>
            </a:pPr>
            <a:r>
              <a:rPr lang="zh-CN" altLang="en-US" sz="750" spc="120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 规范课堂管理</a:t>
            </a:r>
            <a:endParaRPr lang="en-US" sz="69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461565"/>
            <a:ext cx="3351276" cy="711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zh-CN" altLang="en-US" sz="3460" spc="-103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常态化 · 多元化</a:t>
            </a:r>
            <a:endParaRPr lang="en-US" sz="3460" dirty="0"/>
          </a:p>
        </p:txBody>
      </p:sp>
      <p:sp>
        <p:nvSpPr>
          <p:cNvPr id="8" name="Text 6"/>
          <p:cNvSpPr txBox="1"/>
          <p:nvPr/>
        </p:nvSpPr>
        <p:spPr>
          <a:xfrm>
            <a:off x="6562649" y="2461565"/>
            <a:ext cx="2757830" cy="711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zh-CN" altLang="en-US" sz="3460" spc="-103" kern="0" dirty="0">
                <a:solidFill>
                  <a:srgbClr val="002FA7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传承优良作风</a:t>
            </a:r>
            <a:endParaRPr lang="en-US" sz="3460" dirty="0"/>
          </a:p>
        </p:txBody>
      </p:sp>
      <p:sp>
        <p:nvSpPr>
          <p:cNvPr id="9" name="Text 7"/>
          <p:cNvSpPr txBox="1"/>
          <p:nvPr/>
        </p:nvSpPr>
        <p:spPr>
          <a:xfrm>
            <a:off x="818388" y="5410505"/>
            <a:ext cx="1692554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与苏州多所公办小学建立合作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722669" y="5410505"/>
            <a:ext cx="1838858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借鉴部队管理理念,制定学员守则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18388" y="5650078"/>
            <a:ext cx="2296973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校内开设起飞雏鹰科技社团,每周固定课程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722669" y="5650078"/>
            <a:ext cx="2150669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开班宣誓、评优表彰、授肩章仪式教育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" y="5890565"/>
            <a:ext cx="1806854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入校举办航空国防科普专题讲座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722669" y="5890565"/>
            <a:ext cx="2036369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树立如同真实飞行员一般的责任意识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" y="6131052"/>
            <a:ext cx="2150669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组织学员参加全国青少年模拟飞行竞赛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722669" y="6131052"/>
            <a:ext cx="1692554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教学全程由退役军人教官带队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" y="6371539"/>
            <a:ext cx="1724558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老带新模式,搭建学员骨干梯队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722669" y="6371539"/>
            <a:ext cx="1578254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潜移默化塑造学员优良品格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11480"/>
            <a:ext cx="1757477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04 项目实践成果 · ACHIEVEMENTS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11281867" y="411480"/>
            <a:ext cx="503834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11 / 14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15645"/>
            <a:ext cx="5552237" cy="1050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7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已在苏州多所公办小学落地 · 稳定常态化的校内社团课程</a:t>
            </a:r>
            <a:pPr algn="l" indent="0" marL="0">
              <a:lnSpc>
                <a:spcPts val="7670"/>
              </a:lnSpc>
              <a:buNone/>
            </a:pPr>
            <a:r>
              <a:rPr lang="zh-CN" altLang="en-US" sz="4800" spc="-120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六个维度的实践成果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3869741" y="2160727"/>
            <a:ext cx="316382" cy="19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770" spc="123" kern="0" dirty="0">
                <a:solidFill>
                  <a:srgbClr val="0A0A0A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01</a:t>
            </a:r>
            <a:endParaRPr lang="en-US" sz="770" dirty="0"/>
          </a:p>
        </p:txBody>
      </p:sp>
      <p:sp>
        <p:nvSpPr>
          <p:cNvPr id="6" name="Text 4"/>
          <p:cNvSpPr txBox="1"/>
          <p:nvPr/>
        </p:nvSpPr>
        <p:spPr>
          <a:xfrm>
            <a:off x="7568489" y="2160727"/>
            <a:ext cx="331927" cy="19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770" spc="123" kern="0" dirty="0">
                <a:solidFill>
                  <a:srgbClr val="0A0A0A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02</a:t>
            </a:r>
            <a:endParaRPr lang="en-US" sz="770" dirty="0"/>
          </a:p>
        </p:txBody>
      </p:sp>
      <p:sp>
        <p:nvSpPr>
          <p:cNvPr id="7" name="Text 5"/>
          <p:cNvSpPr txBox="1"/>
          <p:nvPr/>
        </p:nvSpPr>
        <p:spPr>
          <a:xfrm>
            <a:off x="11280953" y="2160727"/>
            <a:ext cx="333756" cy="19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770" spc="123" kern="0" dirty="0">
                <a:solidFill>
                  <a:srgbClr val="0A0A0A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03</a:t>
            </a:r>
            <a:endParaRPr lang="en-US" sz="77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58491"/>
            <a:ext cx="923544" cy="33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zh-CN" altLang="en-US" sz="1440" dirty="0">
                <a:solidFill>
                  <a:srgbClr val="0A0A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校园落地</a:t>
            </a:r>
            <a:endParaRPr lang="en-US" sz="1440" dirty="0"/>
          </a:p>
        </p:txBody>
      </p:sp>
      <p:sp>
        <p:nvSpPr>
          <p:cNvPr id="9" name="Text 7"/>
          <p:cNvSpPr txBox="1"/>
          <p:nvPr/>
        </p:nvSpPr>
        <p:spPr>
          <a:xfrm>
            <a:off x="4518965" y="2558491"/>
            <a:ext cx="923544" cy="33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zh-CN" altLang="en-US" sz="1440" dirty="0">
                <a:solidFill>
                  <a:srgbClr val="0A0A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学员规模</a:t>
            </a:r>
            <a:endParaRPr lang="en-US" sz="1440" dirty="0"/>
          </a:p>
        </p:txBody>
      </p:sp>
      <p:sp>
        <p:nvSpPr>
          <p:cNvPr id="10" name="Text 8"/>
          <p:cNvSpPr txBox="1"/>
          <p:nvPr/>
        </p:nvSpPr>
        <p:spPr>
          <a:xfrm>
            <a:off x="8233258" y="2558491"/>
            <a:ext cx="923544" cy="33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zh-CN" altLang="en-US" sz="1440" dirty="0">
                <a:solidFill>
                  <a:srgbClr val="0A0A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赛事荣誉</a:t>
            </a:r>
            <a:endParaRPr lang="en-US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917290"/>
            <a:ext cx="2380183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昆山市实验小学、星海小学等公办小学落地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18965" y="3917290"/>
            <a:ext cx="2640787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开设起飞雏鹰科技社团,累计服务数百名中小学生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33258" y="3917290"/>
            <a:ext cx="2411273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参与全国青少年模拟飞行赛事,斩获多项荣誉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849624" y="4472330"/>
            <a:ext cx="336499" cy="19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770" spc="123" kern="0" dirty="0">
                <a:solidFill>
                  <a:srgbClr val="0A0A0A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04</a:t>
            </a:r>
            <a:endParaRPr lang="en-US" sz="770" dirty="0"/>
          </a:p>
        </p:txBody>
      </p:sp>
      <p:sp>
        <p:nvSpPr>
          <p:cNvPr id="15" name="Text 13"/>
          <p:cNvSpPr txBox="1"/>
          <p:nvPr/>
        </p:nvSpPr>
        <p:spPr>
          <a:xfrm>
            <a:off x="7567574" y="4472330"/>
            <a:ext cx="332842" cy="19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770" spc="123" kern="0" dirty="0">
                <a:solidFill>
                  <a:srgbClr val="0A0A0A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05</a:t>
            </a:r>
            <a:endParaRPr lang="en-US" sz="770" dirty="0"/>
          </a:p>
        </p:txBody>
      </p:sp>
      <p:sp>
        <p:nvSpPr>
          <p:cNvPr id="16" name="Text 14"/>
          <p:cNvSpPr txBox="1"/>
          <p:nvPr/>
        </p:nvSpPr>
        <p:spPr>
          <a:xfrm>
            <a:off x="11280038" y="4472330"/>
            <a:ext cx="334670" cy="19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770" spc="123" kern="0" dirty="0">
                <a:solidFill>
                  <a:srgbClr val="0A0A0A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06</a:t>
            </a:r>
            <a:endParaRPr lang="en-US" sz="77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870094"/>
            <a:ext cx="923544" cy="33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zh-CN" altLang="en-US" sz="1440" dirty="0">
                <a:solidFill>
                  <a:srgbClr val="0A0A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老兵转型</a:t>
            </a:r>
            <a:endParaRPr lang="en-US" sz="1440" dirty="0"/>
          </a:p>
        </p:txBody>
      </p:sp>
      <p:sp>
        <p:nvSpPr>
          <p:cNvPr id="18" name="Text 16"/>
          <p:cNvSpPr txBox="1"/>
          <p:nvPr/>
        </p:nvSpPr>
        <p:spPr>
          <a:xfrm>
            <a:off x="4518965" y="4870094"/>
            <a:ext cx="923544" cy="33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zh-CN" altLang="en-US" sz="1440" dirty="0">
                <a:solidFill>
                  <a:srgbClr val="0A0A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校社共育</a:t>
            </a:r>
            <a:endParaRPr lang="en-US" sz="1440" dirty="0"/>
          </a:p>
        </p:txBody>
      </p:sp>
      <p:sp>
        <p:nvSpPr>
          <p:cNvPr id="19" name="Text 17"/>
          <p:cNvSpPr txBox="1"/>
          <p:nvPr/>
        </p:nvSpPr>
        <p:spPr>
          <a:xfrm>
            <a:off x="8233258" y="4870094"/>
            <a:ext cx="923544" cy="33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zh-CN" altLang="en-US" sz="1440" dirty="0">
                <a:solidFill>
                  <a:srgbClr val="0A0A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学员榜样</a:t>
            </a:r>
            <a:endParaRPr lang="en-US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6228893"/>
            <a:ext cx="2526487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多名退役军人持证上岗,从军人到航空科普教官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18965" y="6228893"/>
            <a:ext cx="2411273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丰富课后服务与科技社团,落实体教融合要求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33258" y="6228893"/>
            <a:ext cx="2411273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涌现郁承玥等品学兼优榜样,德智体全面发展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11480"/>
            <a:ext cx="1767535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05 项目社会效益 · SOCIAL IMPACT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11267237" y="411480"/>
            <a:ext cx="517550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12 / 14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49478"/>
            <a:ext cx="1317650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双向社会效益 · 多方共赢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940003"/>
            <a:ext cx="3624682" cy="882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350"/>
              </a:lnSpc>
              <a:buNone/>
            </a:pPr>
            <a:r>
              <a:rPr lang="zh-CN" altLang="en-US" sz="4420" spc="-89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拓宽就业赛道,</a:t>
            </a:r>
            <a:endParaRPr lang="en-US" sz="4420" dirty="0"/>
          </a:p>
        </p:txBody>
      </p:sp>
      <p:sp>
        <p:nvSpPr>
          <p:cNvPr id="6" name="Text 4"/>
          <p:cNvSpPr txBox="1"/>
          <p:nvPr/>
        </p:nvSpPr>
        <p:spPr>
          <a:xfrm>
            <a:off x="7213702" y="1091794"/>
            <a:ext cx="714146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105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对退役军人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7213702" y="1214323"/>
            <a:ext cx="371429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拓宽就业赛道,实现人生二次价值,落实国家支持退役军人就业创业的政策要求。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1534363"/>
            <a:ext cx="3624682" cy="882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350"/>
              </a:lnSpc>
              <a:buNone/>
            </a:pPr>
            <a:r>
              <a:rPr lang="zh-CN" altLang="en-US" sz="4420" spc="-89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厚植爱国情怀,</a:t>
            </a:r>
            <a:endParaRPr lang="en-US" sz="4420" dirty="0"/>
          </a:p>
        </p:txBody>
      </p:sp>
      <p:sp>
        <p:nvSpPr>
          <p:cNvPr id="9" name="Text 7"/>
          <p:cNvSpPr txBox="1"/>
          <p:nvPr/>
        </p:nvSpPr>
        <p:spPr>
          <a:xfrm>
            <a:off x="7213702" y="1645006"/>
            <a:ext cx="612648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105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对青少年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7213702" y="1767535"/>
            <a:ext cx="41202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国防教育从书本延伸至实操课堂,树立航空报国理想,锻炼专注力、动手能力与抗压能力。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2128723"/>
            <a:ext cx="5699455" cy="882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350"/>
              </a:lnSpc>
              <a:buNone/>
            </a:pPr>
            <a:r>
              <a:rPr lang="zh-CN" altLang="en-US" sz="4420" spc="-89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打造</a:t>
            </a:r>
            <a:pPr algn="l" indent="0" marL="0">
              <a:lnSpc>
                <a:spcPts val="6350"/>
              </a:lnSpc>
              <a:buNone/>
            </a:pPr>
            <a:r>
              <a:rPr lang="zh-CN" altLang="en-US" sz="4420" spc="-89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军地融合育人</a:t>
            </a:r>
            <a:pPr algn="l" indent="0" marL="0">
              <a:lnSpc>
                <a:spcPts val="6350"/>
              </a:lnSpc>
              <a:buNone/>
            </a:pPr>
            <a:r>
              <a:rPr lang="zh-CN" altLang="en-US" sz="4420" spc="-89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样板</a:t>
            </a:r>
            <a:endParaRPr lang="en-US" sz="4420" dirty="0"/>
          </a:p>
        </p:txBody>
      </p:sp>
      <p:sp>
        <p:nvSpPr>
          <p:cNvPr id="12" name="Text 10"/>
          <p:cNvSpPr txBox="1"/>
          <p:nvPr/>
        </p:nvSpPr>
        <p:spPr>
          <a:xfrm>
            <a:off x="7213702" y="2198218"/>
            <a:ext cx="816559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105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对学校与社会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7213702" y="2321662"/>
            <a:ext cx="35844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丰富课后延时服务、科技教育、国防教育载体,助力全民国防教育走深走实。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6313932"/>
            <a:ext cx="421995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zh-CN" altLang="en-US" sz="1630" spc="33" kern="0" dirty="0">
                <a:solidFill>
                  <a:srgbClr val="FAFAF8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把航空报国、强军强国的种子植入少年心中</a:t>
            </a:r>
            <a:endParaRPr lang="en-US" sz="1630" dirty="0"/>
          </a:p>
        </p:txBody>
      </p:sp>
      <p:sp>
        <p:nvSpPr>
          <p:cNvPr id="15" name="Text 13"/>
          <p:cNvSpPr txBox="1"/>
          <p:nvPr/>
        </p:nvSpPr>
        <p:spPr>
          <a:xfrm>
            <a:off x="10370210" y="6438290"/>
            <a:ext cx="1414577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FAFAF8">
                    <a:alpha val="60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SOCIAL IMPACT · 双向赋能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11480"/>
            <a:ext cx="1677010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06 未来规划 · FUTURE ROADMAP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11266322" y="411480"/>
            <a:ext cx="519379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13 / 14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15645"/>
            <a:ext cx="5790895" cy="1050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7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持续深耕青少年航空国防教育</a:t>
            </a:r>
            <a:pPr algn="l" indent="0" marL="0">
              <a:lnSpc>
                <a:spcPts val="7670"/>
              </a:lnSpc>
              <a:buNone/>
            </a:pPr>
            <a:r>
              <a:rPr lang="zh-CN" altLang="en-US" sz="4800" spc="-120" kern="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持续深耕 · 迭代拓展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9361" y="2058314"/>
            <a:ext cx="1190549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zh-CN" altLang="en-US" sz="13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扩大培训规模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43654" y="2058314"/>
            <a:ext cx="1519733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zh-CN" altLang="en-US" sz="13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壮大持证教官队伍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57946" y="2058314"/>
            <a:ext cx="1519733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zh-CN" altLang="en-US" sz="13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迭代优化课程体系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9361" y="3718865"/>
            <a:ext cx="1579169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NEXT 01 · 退役军人教练员培训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543654" y="3718865"/>
            <a:ext cx="1289304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NEXT 02 · 稳定就业创业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57946" y="3718865"/>
            <a:ext cx="1290218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NEXT 03 · 理论实操素养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829361" y="4205326"/>
            <a:ext cx="1519733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zh-CN" altLang="en-US" sz="13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拓展更多校园合作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43654" y="4205326"/>
            <a:ext cx="1190549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zh-CN" altLang="en-US" sz="13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持续赛事活动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57946" y="4205326"/>
            <a:ext cx="1519733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zh-CN" altLang="en-US" sz="13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军地协同教育样板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9361" y="5865876"/>
            <a:ext cx="1089965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NEXT 04 · 校社协同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4543654" y="5865876"/>
            <a:ext cx="1491386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NEXT 05 · 科普 · 社团 · 竞赛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8257946" y="5865876"/>
            <a:ext cx="1391717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FFFFFF">
                    <a:alpha val="75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NEXT 06 · 可复制 · 可推广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609905" y="6386170"/>
            <a:ext cx="378744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8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坚持军旅文化与飞行文化深度融合,培育更多心怀蓝天、航空报国的新时代青少年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411480"/>
            <a:ext cx="522122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FFFFFF">
                    <a:alpha val="62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14 / 14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262372" y="411480"/>
            <a:ext cx="598018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FFFFFF">
                    <a:alpha val="62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CLOSING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535217" y="411480"/>
            <a:ext cx="752551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TAKEAWAYS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1311128" y="411480"/>
            <a:ext cx="645566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03 RULES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38912" y="2166214"/>
            <a:ext cx="780898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altLang="en-US" sz="700" spc="154" kern="0" dirty="0">
                <a:solidFill>
                  <a:srgbClr val="FFFFFF">
                    <a:alpha val="78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THANK YOU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6535217" y="2259482"/>
            <a:ext cx="768096" cy="851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altLang="en-US" sz="421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01</a:t>
            </a:r>
            <a:endParaRPr lang="en-US" sz="4210" dirty="0"/>
          </a:p>
        </p:txBody>
      </p:sp>
      <p:sp>
        <p:nvSpPr>
          <p:cNvPr id="8" name="Text 6"/>
          <p:cNvSpPr txBox="1"/>
          <p:nvPr/>
        </p:nvSpPr>
        <p:spPr>
          <a:xfrm>
            <a:off x="438912" y="2454250"/>
            <a:ext cx="4315968" cy="109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0"/>
              </a:lnSpc>
              <a:buNone/>
            </a:pPr>
            <a:r>
              <a:rPr lang="zh-CN" altLang="en-US" sz="5510" spc="-110" kern="0" dirty="0">
                <a:solidFill>
                  <a:srgbClr val="FFFFFF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恳请各位领导</a:t>
            </a:r>
            <a:endParaRPr lang="en-US" sz="5510" dirty="0"/>
          </a:p>
        </p:txBody>
      </p:sp>
      <p:sp>
        <p:nvSpPr>
          <p:cNvPr id="9" name="Text 7"/>
          <p:cNvSpPr txBox="1"/>
          <p:nvPr/>
        </p:nvSpPr>
        <p:spPr>
          <a:xfrm>
            <a:off x="7343546" y="2380183"/>
            <a:ext cx="1283818" cy="394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zh-CN" altLang="en-US" sz="1730" spc="-26" kern="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老兵当教官</a:t>
            </a:r>
            <a:endParaRPr lang="en-US" sz="1730" dirty="0"/>
          </a:p>
        </p:txBody>
      </p:sp>
      <p:sp>
        <p:nvSpPr>
          <p:cNvPr id="10" name="Text 8"/>
          <p:cNvSpPr txBox="1"/>
          <p:nvPr/>
        </p:nvSpPr>
        <p:spPr>
          <a:xfrm>
            <a:off x="7343546" y="2790749"/>
            <a:ext cx="2901391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退役军人持证上岗,完成角色转型,实现稳定就业创业。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38912" y="3182112"/>
            <a:ext cx="2945282" cy="109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0"/>
              </a:lnSpc>
              <a:buNone/>
            </a:pPr>
            <a:r>
              <a:rPr lang="zh-CN" altLang="en-US" sz="5510" spc="-110" kern="0" dirty="0">
                <a:solidFill>
                  <a:srgbClr val="FFFFFF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多多指导</a:t>
            </a:r>
            <a:endParaRPr lang="en-US" sz="5510" dirty="0"/>
          </a:p>
        </p:txBody>
      </p:sp>
      <p:sp>
        <p:nvSpPr>
          <p:cNvPr id="12" name="Text 10"/>
          <p:cNvSpPr txBox="1"/>
          <p:nvPr/>
        </p:nvSpPr>
        <p:spPr>
          <a:xfrm>
            <a:off x="6535217" y="3178454"/>
            <a:ext cx="768096" cy="851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altLang="en-US" sz="4210" dirty="0">
                <a:solidFill>
                  <a:srgbClr val="0A0A0A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02</a:t>
            </a:r>
            <a:endParaRPr lang="en-US" sz="4210" dirty="0"/>
          </a:p>
        </p:txBody>
      </p:sp>
      <p:sp>
        <p:nvSpPr>
          <p:cNvPr id="13" name="Text 11"/>
          <p:cNvSpPr txBox="1"/>
          <p:nvPr/>
        </p:nvSpPr>
        <p:spPr>
          <a:xfrm>
            <a:off x="7343546" y="3299155"/>
            <a:ext cx="1283818" cy="394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zh-CN" altLang="en-US" sz="1730" spc="-26" kern="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蓝天为课堂</a:t>
            </a:r>
            <a:endParaRPr lang="en-US" sz="1730" dirty="0"/>
          </a:p>
        </p:txBody>
      </p:sp>
      <p:sp>
        <p:nvSpPr>
          <p:cNvPr id="14" name="Text 12"/>
          <p:cNvSpPr txBox="1"/>
          <p:nvPr/>
        </p:nvSpPr>
        <p:spPr>
          <a:xfrm>
            <a:off x="7343546" y="3709721"/>
            <a:ext cx="2952598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模拟飞行将航空知识、国防理念、实操训练融为一体。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535217" y="4097426"/>
            <a:ext cx="768096" cy="851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altLang="en-US" sz="4210" dirty="0">
                <a:solidFill>
                  <a:srgbClr val="002FA7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03</a:t>
            </a:r>
            <a:endParaRPr lang="en-US" sz="4210" dirty="0"/>
          </a:p>
        </p:txBody>
      </p:sp>
      <p:sp>
        <p:nvSpPr>
          <p:cNvPr id="16" name="Text 14"/>
          <p:cNvSpPr txBox="1"/>
          <p:nvPr/>
        </p:nvSpPr>
        <p:spPr>
          <a:xfrm>
            <a:off x="7343546" y="4218127"/>
            <a:ext cx="1283818" cy="394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zh-CN" altLang="en-US" sz="1730" spc="-26" kern="0" dirty="0">
                <a:solidFill>
                  <a:srgbClr val="002FA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国防育少年</a:t>
            </a:r>
            <a:endParaRPr lang="en-US" sz="173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4265676"/>
            <a:ext cx="2553919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CN" altLang="en-US" sz="960" dirty="0">
                <a:solidFill>
                  <a:srgbClr val="FFFFFF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我们将继续紧跟国家政策,发挥退役军人独特优势,深耕校园航空国防教育。谢谢大家!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60443"/>
            <a:ext cx="2349094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CN" altLang="en-US" sz="960" dirty="0">
                <a:solidFill>
                  <a:srgbClr val="FFFFFF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我们将继续紧跟国家政策,发挥退役军人独特优势,深耕校园航空国防教育。谢谢大家!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7343546" y="4629607"/>
            <a:ext cx="2494483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900" dirty="0">
                <a:solidFill>
                  <a:srgbClr val="52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把航空报国、强军强国的种子植入少年心中。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" y="6454750"/>
            <a:ext cx="811073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FFFFFF">
                    <a:alpha val="62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江苏起飞航空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4339742" y="6454750"/>
            <a:ext cx="1520647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FFFFFF">
                    <a:alpha val="62000"/>
                  </a:srgbClr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青少年航空国防科技教育项目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10559491" y="6454750"/>
            <a:ext cx="1218895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zh-CN" altLang="en-US" sz="700" spc="98" kern="0" dirty="0">
                <a:solidFill>
                  <a:srgbClr val="737373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→ 完 · END OF REPORT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江苏起飞航空——青少年航空国防科技教育项目(guizang 瑞士风)</dc:title>
  <dc:subject>PptxGenJS Presentation</dc:subject>
  <dc:creator>江苏起飞航空</dc:creator>
  <cp:lastModifiedBy>江苏起飞航空</cp:lastModifiedBy>
  <cp:revision>1</cp:revision>
  <dcterms:created xsi:type="dcterms:W3CDTF">2026-09-28T08:10:36Z</dcterms:created>
  <dcterms:modified xsi:type="dcterms:W3CDTF">2026-09-28T08:10:36Z</dcterms:modified>
</cp:coreProperties>
</file>